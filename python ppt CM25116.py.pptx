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67" r:id="rId2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47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CFF743-0DD2-4828-ACA2-C00EC869CD2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53C7A-B2B1-4576-8D01-7D0DF4B8D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48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53C7A-B2B1-4576-8D01-7D0DF4B8DB2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58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72" y="129530"/>
            <a:ext cx="8926083" cy="664008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6304" y="146303"/>
            <a:ext cx="8851900" cy="6565900"/>
          </a:xfrm>
          <a:custGeom>
            <a:avLst/>
            <a:gdLst/>
            <a:ahLst/>
            <a:cxnLst/>
            <a:rect l="l" t="t" r="r" b="b"/>
            <a:pathLst>
              <a:path w="8851900" h="6565900">
                <a:moveTo>
                  <a:pt x="0" y="6565392"/>
                </a:moveTo>
                <a:lnTo>
                  <a:pt x="8851392" y="6565392"/>
                </a:lnTo>
                <a:lnTo>
                  <a:pt x="8851392" y="0"/>
                </a:lnTo>
                <a:lnTo>
                  <a:pt x="0" y="0"/>
                </a:lnTo>
                <a:lnTo>
                  <a:pt x="0" y="6565392"/>
                </a:lnTo>
                <a:close/>
              </a:path>
            </a:pathLst>
          </a:custGeom>
          <a:ln w="12700">
            <a:solidFill>
              <a:srgbClr val="8FB0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54502" y="2462910"/>
            <a:ext cx="263525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S.</a:t>
            </a:r>
            <a:r>
              <a:rPr spc="-25" dirty="0"/>
              <a:t> </a:t>
            </a:r>
            <a:r>
              <a:rPr dirty="0"/>
              <a:t>B.</a:t>
            </a:r>
            <a:r>
              <a:rPr spc="-10" dirty="0"/>
              <a:t> </a:t>
            </a:r>
            <a:r>
              <a:rPr dirty="0"/>
              <a:t>Jain</a:t>
            </a:r>
            <a:r>
              <a:rPr spc="-25" dirty="0"/>
              <a:t> </a:t>
            </a:r>
            <a:r>
              <a:rPr dirty="0"/>
              <a:t>Institute</a:t>
            </a:r>
            <a:r>
              <a:rPr spc="-1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Technology</a:t>
            </a:r>
            <a:r>
              <a:rPr spc="-20" dirty="0"/>
              <a:t> </a:t>
            </a:r>
            <a:r>
              <a:rPr dirty="0"/>
              <a:t>Management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Research,</a:t>
            </a:r>
            <a:r>
              <a:rPr spc="-5" dirty="0"/>
              <a:t> </a:t>
            </a:r>
            <a:r>
              <a:rPr spc="-10" dirty="0"/>
              <a:t>Nagpur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S.</a:t>
            </a:r>
            <a:r>
              <a:rPr spc="-25" dirty="0"/>
              <a:t> </a:t>
            </a:r>
            <a:r>
              <a:rPr dirty="0"/>
              <a:t>B.</a:t>
            </a:r>
            <a:r>
              <a:rPr spc="-10" dirty="0"/>
              <a:t> </a:t>
            </a:r>
            <a:r>
              <a:rPr dirty="0"/>
              <a:t>Jain</a:t>
            </a:r>
            <a:r>
              <a:rPr spc="-25" dirty="0"/>
              <a:t> </a:t>
            </a:r>
            <a:r>
              <a:rPr dirty="0"/>
              <a:t>Institute</a:t>
            </a:r>
            <a:r>
              <a:rPr spc="-1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Technology</a:t>
            </a:r>
            <a:r>
              <a:rPr spc="-20" dirty="0"/>
              <a:t> </a:t>
            </a:r>
            <a:r>
              <a:rPr dirty="0"/>
              <a:t>Management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Research,</a:t>
            </a:r>
            <a:r>
              <a:rPr spc="-5" dirty="0"/>
              <a:t> </a:t>
            </a:r>
            <a:r>
              <a:rPr spc="-10" dirty="0"/>
              <a:t>Nagpur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S.</a:t>
            </a:r>
            <a:r>
              <a:rPr spc="-25" dirty="0"/>
              <a:t> </a:t>
            </a:r>
            <a:r>
              <a:rPr dirty="0"/>
              <a:t>B.</a:t>
            </a:r>
            <a:r>
              <a:rPr spc="-10" dirty="0"/>
              <a:t> </a:t>
            </a:r>
            <a:r>
              <a:rPr dirty="0"/>
              <a:t>Jain</a:t>
            </a:r>
            <a:r>
              <a:rPr spc="-25" dirty="0"/>
              <a:t> </a:t>
            </a:r>
            <a:r>
              <a:rPr dirty="0"/>
              <a:t>Institute</a:t>
            </a:r>
            <a:r>
              <a:rPr spc="-1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Technology</a:t>
            </a:r>
            <a:r>
              <a:rPr spc="-20" dirty="0"/>
              <a:t> </a:t>
            </a:r>
            <a:r>
              <a:rPr dirty="0"/>
              <a:t>Management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Research,</a:t>
            </a:r>
            <a:r>
              <a:rPr spc="-5" dirty="0"/>
              <a:t> </a:t>
            </a:r>
            <a:r>
              <a:rPr spc="-10" dirty="0"/>
              <a:t>Nagpur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S.</a:t>
            </a:r>
            <a:r>
              <a:rPr spc="-25" dirty="0"/>
              <a:t> </a:t>
            </a:r>
            <a:r>
              <a:rPr dirty="0"/>
              <a:t>B.</a:t>
            </a:r>
            <a:r>
              <a:rPr spc="-10" dirty="0"/>
              <a:t> </a:t>
            </a:r>
            <a:r>
              <a:rPr dirty="0"/>
              <a:t>Jain</a:t>
            </a:r>
            <a:r>
              <a:rPr spc="-25" dirty="0"/>
              <a:t> </a:t>
            </a:r>
            <a:r>
              <a:rPr dirty="0"/>
              <a:t>Institute</a:t>
            </a:r>
            <a:r>
              <a:rPr spc="-1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Technology</a:t>
            </a:r>
            <a:r>
              <a:rPr spc="-20" dirty="0"/>
              <a:t> </a:t>
            </a:r>
            <a:r>
              <a:rPr dirty="0"/>
              <a:t>Management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Research,</a:t>
            </a:r>
            <a:r>
              <a:rPr spc="-5" dirty="0"/>
              <a:t> </a:t>
            </a:r>
            <a:r>
              <a:rPr spc="-10" dirty="0"/>
              <a:t>Nagpur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S.</a:t>
            </a:r>
            <a:r>
              <a:rPr spc="-25" dirty="0"/>
              <a:t> </a:t>
            </a:r>
            <a:r>
              <a:rPr dirty="0"/>
              <a:t>B.</a:t>
            </a:r>
            <a:r>
              <a:rPr spc="-10" dirty="0"/>
              <a:t> </a:t>
            </a:r>
            <a:r>
              <a:rPr dirty="0"/>
              <a:t>Jain</a:t>
            </a:r>
            <a:r>
              <a:rPr spc="-25" dirty="0"/>
              <a:t> </a:t>
            </a:r>
            <a:r>
              <a:rPr dirty="0"/>
              <a:t>Institute</a:t>
            </a:r>
            <a:r>
              <a:rPr spc="-1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Technology</a:t>
            </a:r>
            <a:r>
              <a:rPr spc="-20" dirty="0"/>
              <a:t> </a:t>
            </a:r>
            <a:r>
              <a:rPr dirty="0"/>
              <a:t>Management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Research,</a:t>
            </a:r>
            <a:r>
              <a:rPr spc="-5" dirty="0"/>
              <a:t> </a:t>
            </a:r>
            <a:r>
              <a:rPr spc="-10" dirty="0"/>
              <a:t>Nagpur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6672" y="129530"/>
            <a:ext cx="8926083" cy="664008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6304" y="146303"/>
            <a:ext cx="8851900" cy="6565900"/>
          </a:xfrm>
          <a:custGeom>
            <a:avLst/>
            <a:gdLst/>
            <a:ahLst/>
            <a:cxnLst/>
            <a:rect l="l" t="t" r="r" b="b"/>
            <a:pathLst>
              <a:path w="8851900" h="6565900">
                <a:moveTo>
                  <a:pt x="0" y="6565392"/>
                </a:moveTo>
                <a:lnTo>
                  <a:pt x="8851392" y="6565392"/>
                </a:lnTo>
                <a:lnTo>
                  <a:pt x="8851392" y="0"/>
                </a:lnTo>
                <a:lnTo>
                  <a:pt x="0" y="0"/>
                </a:lnTo>
                <a:lnTo>
                  <a:pt x="0" y="6565392"/>
                </a:lnTo>
                <a:close/>
              </a:path>
            </a:pathLst>
          </a:custGeom>
          <a:ln w="12700">
            <a:solidFill>
              <a:srgbClr val="8FB0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3631" y="6380990"/>
            <a:ext cx="8932164" cy="39162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46303" y="6400799"/>
            <a:ext cx="8851900" cy="311150"/>
          </a:xfrm>
          <a:custGeom>
            <a:avLst/>
            <a:gdLst/>
            <a:ahLst/>
            <a:cxnLst/>
            <a:rect l="l" t="t" r="r" b="b"/>
            <a:pathLst>
              <a:path w="8851900" h="311150">
                <a:moveTo>
                  <a:pt x="8851392" y="0"/>
                </a:moveTo>
                <a:lnTo>
                  <a:pt x="0" y="0"/>
                </a:lnTo>
                <a:lnTo>
                  <a:pt x="0" y="310896"/>
                </a:lnTo>
                <a:lnTo>
                  <a:pt x="8851392" y="310896"/>
                </a:lnTo>
                <a:lnTo>
                  <a:pt x="8851392" y="0"/>
                </a:lnTo>
                <a:close/>
              </a:path>
            </a:pathLst>
          </a:custGeom>
          <a:solidFill>
            <a:srgbClr val="8FB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659" y="392938"/>
            <a:ext cx="7118350" cy="467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0259" y="1265301"/>
            <a:ext cx="6173470" cy="3043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62787" y="6477330"/>
            <a:ext cx="35699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S.</a:t>
            </a:r>
            <a:r>
              <a:rPr spc="-25" dirty="0"/>
              <a:t> </a:t>
            </a:r>
            <a:r>
              <a:rPr dirty="0"/>
              <a:t>B.</a:t>
            </a:r>
            <a:r>
              <a:rPr spc="-10" dirty="0"/>
              <a:t> </a:t>
            </a:r>
            <a:r>
              <a:rPr dirty="0"/>
              <a:t>Jain</a:t>
            </a:r>
            <a:r>
              <a:rPr spc="-25" dirty="0"/>
              <a:t> </a:t>
            </a:r>
            <a:r>
              <a:rPr dirty="0"/>
              <a:t>Institute</a:t>
            </a:r>
            <a:r>
              <a:rPr spc="-1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Technology</a:t>
            </a:r>
            <a:r>
              <a:rPr spc="-20" dirty="0"/>
              <a:t> </a:t>
            </a:r>
            <a:r>
              <a:rPr dirty="0"/>
              <a:t>Management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Research,</a:t>
            </a:r>
            <a:r>
              <a:rPr spc="-5" dirty="0"/>
              <a:t> </a:t>
            </a:r>
            <a:r>
              <a:rPr spc="-10" dirty="0"/>
              <a:t>Nagpur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672" y="129530"/>
            <a:ext cx="8926195" cy="6640195"/>
            <a:chOff x="106672" y="129530"/>
            <a:chExt cx="8926195" cy="66401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2" y="129530"/>
              <a:ext cx="8926083" cy="66400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6304" y="146303"/>
              <a:ext cx="8851900" cy="6565900"/>
            </a:xfrm>
            <a:custGeom>
              <a:avLst/>
              <a:gdLst/>
              <a:ahLst/>
              <a:cxnLst/>
              <a:rect l="l" t="t" r="r" b="b"/>
              <a:pathLst>
                <a:path w="8851900" h="6565900">
                  <a:moveTo>
                    <a:pt x="0" y="6565392"/>
                  </a:moveTo>
                  <a:lnTo>
                    <a:pt x="8851392" y="6565392"/>
                  </a:lnTo>
                  <a:lnTo>
                    <a:pt x="8851392" y="0"/>
                  </a:lnTo>
                  <a:lnTo>
                    <a:pt x="0" y="0"/>
                  </a:lnTo>
                  <a:lnTo>
                    <a:pt x="0" y="6565392"/>
                  </a:lnTo>
                  <a:close/>
                </a:path>
              </a:pathLst>
            </a:custGeom>
            <a:ln w="12700">
              <a:solidFill>
                <a:srgbClr val="8FB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512567" y="431037"/>
            <a:ext cx="4116704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latin typeface="Times New Roman"/>
                <a:cs typeface="Times New Roman"/>
              </a:rPr>
              <a:t>Experiential</a:t>
            </a:r>
            <a:r>
              <a:rPr sz="3400" spc="-15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Learning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4658" y="803917"/>
            <a:ext cx="6052820" cy="2689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08100" marR="1115695" algn="ctr">
              <a:lnSpc>
                <a:spcPct val="130000"/>
              </a:lnSpc>
              <a:spcBef>
                <a:spcPts val="95"/>
              </a:spcBef>
            </a:pPr>
            <a:r>
              <a:rPr sz="3200" b="1" spc="-10" dirty="0">
                <a:latin typeface="Times New Roman"/>
                <a:cs typeface="Times New Roman"/>
              </a:rPr>
              <a:t>Project</a:t>
            </a:r>
            <a:r>
              <a:rPr sz="3200" b="1" spc="-13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Assessment-</a:t>
            </a:r>
            <a:r>
              <a:rPr sz="3200" b="1" spc="-50" dirty="0">
                <a:latin typeface="Times New Roman"/>
                <a:cs typeface="Times New Roman"/>
              </a:rPr>
              <a:t>I </a:t>
            </a:r>
            <a:r>
              <a:rPr sz="3200" b="1" spc="-25" dirty="0">
                <a:latin typeface="Times New Roman"/>
                <a:cs typeface="Times New Roman"/>
              </a:rPr>
              <a:t>on</a:t>
            </a:r>
            <a:endParaRPr sz="3200">
              <a:latin typeface="Times New Roman"/>
              <a:cs typeface="Times New Roman"/>
            </a:endParaRPr>
          </a:p>
          <a:p>
            <a:pPr marL="138430" algn="ctr">
              <a:lnSpc>
                <a:spcPts val="3065"/>
              </a:lnSpc>
            </a:pPr>
            <a:r>
              <a:rPr sz="2600" b="1" dirty="0">
                <a:solidFill>
                  <a:srgbClr val="0000FF"/>
                </a:solidFill>
                <a:latin typeface="Calibri"/>
                <a:cs typeface="Calibri"/>
              </a:rPr>
              <a:t>“Balanced</a:t>
            </a:r>
            <a:r>
              <a:rPr sz="2600" b="1" spc="-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00FF"/>
                </a:solidFill>
                <a:latin typeface="Calibri"/>
                <a:cs typeface="Calibri"/>
              </a:rPr>
              <a:t>Parenthesis</a:t>
            </a:r>
            <a:r>
              <a:rPr sz="2600" b="1" spc="-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00FF"/>
                </a:solidFill>
                <a:latin typeface="Calibri"/>
                <a:cs typeface="Calibri"/>
              </a:rPr>
              <a:t>Checker”</a:t>
            </a:r>
            <a:endParaRPr sz="2600">
              <a:latin typeface="Calibri"/>
              <a:cs typeface="Calibri"/>
            </a:endParaRPr>
          </a:p>
          <a:p>
            <a:pPr marL="182880" algn="ctr">
              <a:lnSpc>
                <a:spcPct val="100000"/>
              </a:lnSpc>
              <a:spcBef>
                <a:spcPts val="2415"/>
              </a:spcBef>
            </a:pPr>
            <a:r>
              <a:rPr sz="2200" b="1" dirty="0">
                <a:solidFill>
                  <a:srgbClr val="0434FA"/>
                </a:solidFill>
                <a:latin typeface="Times New Roman"/>
                <a:cs typeface="Times New Roman"/>
              </a:rPr>
              <a:t>under</a:t>
            </a:r>
            <a:r>
              <a:rPr sz="2200" b="1" spc="-95" dirty="0">
                <a:solidFill>
                  <a:srgbClr val="0434FA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434FA"/>
                </a:solidFill>
                <a:latin typeface="Times New Roman"/>
                <a:cs typeface="Times New Roman"/>
              </a:rPr>
              <a:t>the</a:t>
            </a:r>
            <a:r>
              <a:rPr sz="2200" b="1" spc="-45" dirty="0">
                <a:solidFill>
                  <a:srgbClr val="0434FA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434FA"/>
                </a:solidFill>
                <a:latin typeface="Times New Roman"/>
                <a:cs typeface="Times New Roman"/>
              </a:rPr>
              <a:t>course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Python</a:t>
            </a:r>
            <a:r>
              <a:rPr sz="2200" b="1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22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Language</a:t>
            </a:r>
            <a:r>
              <a:rPr sz="2200" b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(N-PCCCM304P)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7" name="object 7" descr="sb_jain_logo_crop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67328" y="3703345"/>
            <a:ext cx="1417320" cy="10816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7796" y="3821048"/>
            <a:ext cx="2026285" cy="803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4445" algn="ctr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Times New Roman"/>
                <a:cs typeface="Times New Roman"/>
              </a:rPr>
              <a:t>Presented</a:t>
            </a:r>
            <a:r>
              <a:rPr sz="1700" b="1" spc="-70" dirty="0">
                <a:latin typeface="Times New Roman"/>
                <a:cs typeface="Times New Roman"/>
              </a:rPr>
              <a:t> </a:t>
            </a:r>
            <a:r>
              <a:rPr sz="1700" b="1" spc="-25" dirty="0">
                <a:latin typeface="Times New Roman"/>
                <a:cs typeface="Times New Roman"/>
              </a:rPr>
              <a:t>By </a:t>
            </a:r>
            <a:r>
              <a:rPr sz="1700" b="1" dirty="0">
                <a:latin typeface="Times New Roman"/>
                <a:cs typeface="Times New Roman"/>
              </a:rPr>
              <a:t>Swanandi</a:t>
            </a:r>
            <a:r>
              <a:rPr sz="1700" b="1" spc="-6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Kshirsagar CM25116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97346" y="3776853"/>
            <a:ext cx="178117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4545" marR="5080" indent="-7924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Under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Guidance </a:t>
            </a:r>
            <a:r>
              <a:rPr sz="1600" b="1" spc="-25" dirty="0">
                <a:latin typeface="Times New Roman"/>
                <a:cs typeface="Times New Roman"/>
              </a:rPr>
              <a:t>of</a:t>
            </a:r>
            <a:endParaRPr sz="16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Mrs.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Mayuri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Getme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3139" y="5056708"/>
            <a:ext cx="7156450" cy="727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Session: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2026-</a:t>
            </a:r>
            <a:r>
              <a:rPr sz="1600" b="1" dirty="0">
                <a:latin typeface="Times New Roman"/>
                <a:cs typeface="Times New Roman"/>
              </a:rPr>
              <a:t>27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(ODD)</a:t>
            </a:r>
            <a:endParaRPr sz="1600">
              <a:latin typeface="Times New Roman"/>
              <a:cs typeface="Times New Roman"/>
            </a:endParaRPr>
          </a:p>
          <a:p>
            <a:pPr marL="226695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latin typeface="Times New Roman"/>
                <a:cs typeface="Times New Roman"/>
              </a:rPr>
              <a:t>Department of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CSE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(AI&amp;ML)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Times New Roman"/>
                <a:cs typeface="Times New Roman"/>
              </a:rPr>
              <a:t>S.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B.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JAIN</a:t>
            </a:r>
            <a:r>
              <a:rPr sz="1400" b="1" spc="-10" dirty="0">
                <a:latin typeface="Times New Roman"/>
                <a:cs typeface="Times New Roman"/>
              </a:rPr>
              <a:t> INSTITUTE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9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TECHNOLOGY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MANAGEMENT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RESEARCH,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NAGPUR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Phase 1 - </a:t>
            </a:r>
            <a:r>
              <a:rPr spc="-10" dirty="0"/>
              <a:t>Contents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S.</a:t>
            </a:r>
            <a:r>
              <a:rPr spc="-25" dirty="0"/>
              <a:t> </a:t>
            </a:r>
            <a:r>
              <a:rPr dirty="0"/>
              <a:t>B.</a:t>
            </a:r>
            <a:r>
              <a:rPr spc="-10" dirty="0"/>
              <a:t> </a:t>
            </a:r>
            <a:r>
              <a:rPr dirty="0"/>
              <a:t>Jain</a:t>
            </a:r>
            <a:r>
              <a:rPr spc="-25" dirty="0"/>
              <a:t> </a:t>
            </a:r>
            <a:r>
              <a:rPr dirty="0"/>
              <a:t>Institute</a:t>
            </a:r>
            <a:r>
              <a:rPr spc="-1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Technology</a:t>
            </a:r>
            <a:r>
              <a:rPr spc="-20" dirty="0"/>
              <a:t> </a:t>
            </a:r>
            <a:r>
              <a:rPr dirty="0"/>
              <a:t>Management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Research,</a:t>
            </a:r>
            <a:r>
              <a:rPr spc="-5" dirty="0"/>
              <a:t> </a:t>
            </a:r>
            <a:r>
              <a:rPr spc="-10" dirty="0"/>
              <a:t>Nagpur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124458"/>
            <a:ext cx="6177280" cy="363982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1105"/>
              </a:spcBef>
              <a:buChar char="•"/>
              <a:tabLst>
                <a:tab pos="177800" algn="l"/>
              </a:tabLst>
            </a:pP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Problem</a:t>
            </a:r>
            <a:r>
              <a:rPr sz="1800" spc="-7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Statement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spcBef>
                <a:spcPts val="1010"/>
              </a:spcBef>
              <a:buChar char="•"/>
              <a:tabLst>
                <a:tab pos="177800" algn="l"/>
              </a:tabLst>
            </a:pP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Objectives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spcBef>
                <a:spcPts val="1000"/>
              </a:spcBef>
              <a:buChar char="•"/>
              <a:tabLst>
                <a:tab pos="177800" algn="l"/>
              </a:tabLst>
            </a:pP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Algorithm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spcBef>
                <a:spcPts val="994"/>
              </a:spcBef>
              <a:buChar char="•"/>
              <a:tabLst>
                <a:tab pos="177800" algn="l"/>
              </a:tabLst>
            </a:pP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Flowchart</a:t>
            </a:r>
            <a:r>
              <a:rPr sz="1800" spc="-2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/</a:t>
            </a:r>
            <a:r>
              <a:rPr sz="1800" spc="-3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Pseudocode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spcBef>
                <a:spcPts val="1010"/>
              </a:spcBef>
              <a:buChar char="•"/>
              <a:tabLst>
                <a:tab pos="177800" algn="l"/>
              </a:tabLst>
            </a:pP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Understanding</a:t>
            </a:r>
            <a:r>
              <a:rPr sz="1800" spc="-2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of</a:t>
            </a:r>
            <a:r>
              <a:rPr sz="1800" spc="-4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Python</a:t>
            </a:r>
            <a:r>
              <a:rPr sz="1800" spc="-3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Logic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spcBef>
                <a:spcPts val="995"/>
              </a:spcBef>
              <a:buChar char="•"/>
              <a:tabLst>
                <a:tab pos="177800" algn="l"/>
              </a:tabLst>
            </a:pP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Graph</a:t>
            </a:r>
            <a:r>
              <a:rPr sz="1800" spc="-6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Representation</a:t>
            </a:r>
            <a:r>
              <a:rPr sz="1800" spc="-6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and</a:t>
            </a:r>
            <a:r>
              <a:rPr sz="1800" spc="-7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Working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spcBef>
                <a:spcPts val="994"/>
              </a:spcBef>
              <a:buChar char="•"/>
              <a:tabLst>
                <a:tab pos="177800" algn="l"/>
              </a:tabLst>
            </a:pP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GitHub</a:t>
            </a:r>
            <a:r>
              <a:rPr sz="1800" spc="-5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Account,</a:t>
            </a:r>
            <a:r>
              <a:rPr sz="1800" spc="-6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Repository</a:t>
            </a:r>
            <a:r>
              <a:rPr sz="1800" spc="-5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Creation</a:t>
            </a:r>
            <a:r>
              <a:rPr sz="1800" spc="-6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and</a:t>
            </a:r>
            <a:r>
              <a:rPr sz="1800" spc="-6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Code</a:t>
            </a:r>
            <a:r>
              <a:rPr sz="1800" spc="-5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Upload</a:t>
            </a:r>
            <a:endParaRPr sz="1800">
              <a:latin typeface="Calibri"/>
              <a:cs typeface="Calibri"/>
            </a:endParaRPr>
          </a:p>
          <a:p>
            <a:pPr marL="179070" indent="-166370">
              <a:lnSpc>
                <a:spcPct val="100000"/>
              </a:lnSpc>
              <a:spcBef>
                <a:spcPts val="1010"/>
              </a:spcBef>
              <a:buChar char="•"/>
              <a:tabLst>
                <a:tab pos="179070" algn="l"/>
              </a:tabLst>
            </a:pP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Meaninsgful</a:t>
            </a:r>
            <a:r>
              <a:rPr sz="1800" spc="-4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Commits,</a:t>
            </a:r>
            <a:r>
              <a:rPr sz="1800" spc="-4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Collaboration</a:t>
            </a:r>
            <a:r>
              <a:rPr sz="1800" spc="-4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Individual</a:t>
            </a:r>
            <a:r>
              <a:rPr sz="1800" spc="-4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Contribution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spcBef>
                <a:spcPts val="994"/>
              </a:spcBef>
              <a:buChar char="•"/>
              <a:tabLst>
                <a:tab pos="177800" algn="l"/>
              </a:tabLst>
            </a:pP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Result</a:t>
            </a:r>
            <a:r>
              <a:rPr sz="1800" spc="-4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/</a:t>
            </a:r>
            <a:r>
              <a:rPr sz="1800" spc="-4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Expected</a:t>
            </a:r>
            <a:r>
              <a:rPr sz="1800" spc="-3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Phase </a:t>
            </a:r>
            <a:r>
              <a:rPr dirty="0"/>
              <a:t>1</a:t>
            </a:r>
            <a:r>
              <a:rPr lang="en-US" dirty="0"/>
              <a:t> - </a:t>
            </a:r>
            <a:r>
              <a:rPr dirty="0"/>
              <a:t>Problem</a:t>
            </a:r>
            <a:r>
              <a:rPr spc="-8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S.</a:t>
            </a:r>
            <a:r>
              <a:rPr spc="-25" dirty="0"/>
              <a:t> </a:t>
            </a:r>
            <a:r>
              <a:rPr dirty="0"/>
              <a:t>B.</a:t>
            </a:r>
            <a:r>
              <a:rPr spc="-10" dirty="0"/>
              <a:t> </a:t>
            </a:r>
            <a:r>
              <a:rPr dirty="0"/>
              <a:t>Jain</a:t>
            </a:r>
            <a:r>
              <a:rPr spc="-25" dirty="0"/>
              <a:t> </a:t>
            </a:r>
            <a:r>
              <a:rPr dirty="0"/>
              <a:t>Institute</a:t>
            </a:r>
            <a:r>
              <a:rPr spc="-1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Technology</a:t>
            </a:r>
            <a:r>
              <a:rPr spc="-20" dirty="0"/>
              <a:t> </a:t>
            </a:r>
            <a:r>
              <a:rPr dirty="0"/>
              <a:t>Management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Research,</a:t>
            </a:r>
            <a:r>
              <a:rPr spc="-5" dirty="0"/>
              <a:t> </a:t>
            </a:r>
            <a:r>
              <a:rPr spc="-10" dirty="0"/>
              <a:t>Nagpur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346403"/>
            <a:ext cx="6959600" cy="3592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100"/>
              </a:spcBef>
              <a:buChar char="•"/>
              <a:tabLst>
                <a:tab pos="179070" algn="l"/>
              </a:tabLst>
            </a:pPr>
            <a:r>
              <a:rPr sz="1800" dirty="0">
                <a:latin typeface="Calibri"/>
                <a:cs typeface="Calibri"/>
              </a:rPr>
              <a:t>Mathematical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expressions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programming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often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contain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parentheses,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brackets,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braces.</a:t>
            </a:r>
            <a:endParaRPr sz="1800">
              <a:latin typeface="Calibri"/>
              <a:cs typeface="Calibri"/>
            </a:endParaRPr>
          </a:p>
          <a:p>
            <a:pPr marL="12700" marR="972819" indent="165100">
              <a:lnSpc>
                <a:spcPct val="100000"/>
              </a:lnSpc>
              <a:spcBef>
                <a:spcPts val="2160"/>
              </a:spcBef>
              <a:buChar char="•"/>
              <a:tabLst>
                <a:tab pos="177800" algn="l"/>
              </a:tabLst>
            </a:pPr>
            <a:r>
              <a:rPr sz="1800" dirty="0">
                <a:latin typeface="Calibri"/>
                <a:cs typeface="Calibri"/>
              </a:rPr>
              <a:t>Incorrect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placement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ordering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symbols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make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 </a:t>
            </a:r>
            <a:r>
              <a:rPr sz="1800" spc="-10" dirty="0">
                <a:latin typeface="Calibri"/>
                <a:cs typeface="Calibri"/>
              </a:rPr>
              <a:t>expression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invalid.</a:t>
            </a:r>
            <a:endParaRPr sz="1800">
              <a:latin typeface="Calibri"/>
              <a:cs typeface="Calibri"/>
            </a:endParaRPr>
          </a:p>
          <a:p>
            <a:pPr marL="179070" indent="-166370">
              <a:lnSpc>
                <a:spcPct val="100000"/>
              </a:lnSpc>
              <a:spcBef>
                <a:spcPts val="2160"/>
              </a:spcBef>
              <a:buChar char="•"/>
              <a:tabLst>
                <a:tab pos="17907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project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checks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whether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every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opening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symbol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corresponding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closing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symbol.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spcBef>
                <a:spcPts val="2160"/>
              </a:spcBef>
              <a:buChar char="•"/>
              <a:tabLst>
                <a:tab pos="177800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verifies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symbols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correct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order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stack-</a:t>
            </a:r>
            <a:r>
              <a:rPr sz="1800" b="1" dirty="0">
                <a:latin typeface="Calibri"/>
                <a:cs typeface="Calibri"/>
              </a:rPr>
              <a:t>based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approach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 marR="457200" indent="165100">
              <a:lnSpc>
                <a:spcPct val="100000"/>
              </a:lnSpc>
              <a:spcBef>
                <a:spcPts val="2160"/>
              </a:spcBef>
              <a:buChar char="•"/>
              <a:tabLst>
                <a:tab pos="17780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accepts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expression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displays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whether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b="1" dirty="0">
                <a:latin typeface="Calibri"/>
                <a:cs typeface="Calibri"/>
              </a:rPr>
              <a:t>Balanced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or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Not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Balanced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Phase 1 - </a:t>
            </a: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S.</a:t>
            </a:r>
            <a:r>
              <a:rPr spc="-25" dirty="0"/>
              <a:t> </a:t>
            </a:r>
            <a:r>
              <a:rPr dirty="0"/>
              <a:t>B.</a:t>
            </a:r>
            <a:r>
              <a:rPr spc="-10" dirty="0"/>
              <a:t> </a:t>
            </a:r>
            <a:r>
              <a:rPr dirty="0"/>
              <a:t>Jain</a:t>
            </a:r>
            <a:r>
              <a:rPr spc="-25" dirty="0"/>
              <a:t> </a:t>
            </a:r>
            <a:r>
              <a:rPr dirty="0"/>
              <a:t>Institute</a:t>
            </a:r>
            <a:r>
              <a:rPr spc="-1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Technology</a:t>
            </a:r>
            <a:r>
              <a:rPr spc="-20" dirty="0"/>
              <a:t> </a:t>
            </a:r>
            <a:r>
              <a:rPr dirty="0"/>
              <a:t>Management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Research,</a:t>
            </a:r>
            <a:r>
              <a:rPr spc="-5" dirty="0"/>
              <a:t> </a:t>
            </a:r>
            <a:r>
              <a:rPr spc="-10" dirty="0"/>
              <a:t>Nagpur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1732" y="1418130"/>
            <a:ext cx="7084695" cy="2616835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96215" indent="-183515">
              <a:lnSpc>
                <a:spcPct val="100000"/>
              </a:lnSpc>
              <a:spcBef>
                <a:spcPts val="1090"/>
              </a:spcBef>
              <a:buChar char="•"/>
              <a:tabLst>
                <a:tab pos="196215" algn="l"/>
              </a:tabLst>
            </a:pPr>
            <a:r>
              <a:rPr sz="2000" spc="-10" dirty="0">
                <a:solidFill>
                  <a:srgbClr val="222C31"/>
                </a:solidFill>
                <a:latin typeface="Calibri"/>
                <a:cs typeface="Calibri"/>
              </a:rPr>
              <a:t>Represent</a:t>
            </a:r>
            <a:r>
              <a:rPr sz="2000" spc="-5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users</a:t>
            </a:r>
            <a:r>
              <a:rPr sz="2000" spc="-3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as</a:t>
            </a:r>
            <a:r>
              <a:rPr sz="2000" spc="-5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vertices</a:t>
            </a:r>
            <a:r>
              <a:rPr sz="2000" spc="-3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and</a:t>
            </a:r>
            <a:r>
              <a:rPr sz="2000" spc="-6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friendships</a:t>
            </a:r>
            <a:r>
              <a:rPr sz="2000" spc="-5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as</a:t>
            </a:r>
            <a:r>
              <a:rPr sz="2000" spc="-4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22C31"/>
                </a:solidFill>
                <a:latin typeface="Calibri"/>
                <a:cs typeface="Calibri"/>
              </a:rPr>
              <a:t>edges.</a:t>
            </a:r>
            <a:endParaRPr sz="2000">
              <a:latin typeface="Calibri"/>
              <a:cs typeface="Calibri"/>
            </a:endParaRPr>
          </a:p>
          <a:p>
            <a:pPr marL="196215" indent="-183515">
              <a:lnSpc>
                <a:spcPct val="100000"/>
              </a:lnSpc>
              <a:spcBef>
                <a:spcPts val="994"/>
              </a:spcBef>
              <a:buChar char="•"/>
              <a:tabLst>
                <a:tab pos="196215" algn="l"/>
              </a:tabLst>
            </a:pP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Store</a:t>
            </a:r>
            <a:r>
              <a:rPr sz="2000" spc="-3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network</a:t>
            </a:r>
            <a:r>
              <a:rPr sz="2000" spc="-4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using</a:t>
            </a:r>
            <a:r>
              <a:rPr sz="2000" spc="-3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an</a:t>
            </a:r>
            <a:r>
              <a:rPr sz="2000" spc="-4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22C31"/>
                </a:solidFill>
                <a:latin typeface="Calibri"/>
                <a:cs typeface="Calibri"/>
              </a:rPr>
              <a:t>adjacency-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list</a:t>
            </a:r>
            <a:r>
              <a:rPr sz="2000" spc="-3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22C31"/>
                </a:solidFill>
                <a:latin typeface="Calibri"/>
                <a:cs typeface="Calibri"/>
              </a:rPr>
              <a:t>structure.</a:t>
            </a:r>
            <a:endParaRPr sz="2000">
              <a:latin typeface="Calibri"/>
              <a:cs typeface="Calibri"/>
            </a:endParaRPr>
          </a:p>
          <a:p>
            <a:pPr marL="196215" indent="-183515">
              <a:lnSpc>
                <a:spcPct val="100000"/>
              </a:lnSpc>
              <a:spcBef>
                <a:spcPts val="1010"/>
              </a:spcBef>
              <a:buChar char="•"/>
              <a:tabLst>
                <a:tab pos="196215" algn="l"/>
              </a:tabLst>
            </a:pP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Add</a:t>
            </a:r>
            <a:r>
              <a:rPr sz="2000" spc="-6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users</a:t>
            </a:r>
            <a:r>
              <a:rPr sz="2000" spc="-3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and</a:t>
            </a:r>
            <a:r>
              <a:rPr sz="2000" spc="-4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22C31"/>
                </a:solidFill>
                <a:latin typeface="Calibri"/>
                <a:cs typeface="Calibri"/>
              </a:rPr>
              <a:t>create</a:t>
            </a:r>
            <a:r>
              <a:rPr sz="2000" spc="-3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friendship</a:t>
            </a:r>
            <a:r>
              <a:rPr sz="2000" spc="-4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22C31"/>
                </a:solidFill>
                <a:latin typeface="Calibri"/>
                <a:cs typeface="Calibri"/>
              </a:rPr>
              <a:t>connections.</a:t>
            </a:r>
            <a:endParaRPr sz="2000">
              <a:latin typeface="Calibri"/>
              <a:cs typeface="Calibri"/>
            </a:endParaRPr>
          </a:p>
          <a:p>
            <a:pPr marL="196215" indent="-183515">
              <a:lnSpc>
                <a:spcPct val="100000"/>
              </a:lnSpc>
              <a:spcBef>
                <a:spcPts val="1000"/>
              </a:spcBef>
              <a:buChar char="•"/>
              <a:tabLst>
                <a:tab pos="196215" algn="l"/>
              </a:tabLst>
            </a:pP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Find</a:t>
            </a:r>
            <a:r>
              <a:rPr sz="2000" spc="-7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mutual</a:t>
            </a:r>
            <a:r>
              <a:rPr sz="2000" spc="-6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friends</a:t>
            </a:r>
            <a:r>
              <a:rPr sz="2000" spc="-6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between</a:t>
            </a:r>
            <a:r>
              <a:rPr sz="2000" spc="-7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22C31"/>
                </a:solidFill>
                <a:latin typeface="Calibri"/>
                <a:cs typeface="Calibri"/>
              </a:rPr>
              <a:t>users.</a:t>
            </a:r>
            <a:endParaRPr sz="2000">
              <a:latin typeface="Calibri"/>
              <a:cs typeface="Calibri"/>
            </a:endParaRPr>
          </a:p>
          <a:p>
            <a:pPr marL="196215" indent="-183515">
              <a:lnSpc>
                <a:spcPct val="100000"/>
              </a:lnSpc>
              <a:spcBef>
                <a:spcPts val="994"/>
              </a:spcBef>
              <a:buChar char="•"/>
              <a:tabLst>
                <a:tab pos="196215" algn="l"/>
              </a:tabLst>
            </a:pP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Recommend</a:t>
            </a:r>
            <a:r>
              <a:rPr sz="2000" spc="-5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22C31"/>
                </a:solidFill>
                <a:latin typeface="Calibri"/>
                <a:cs typeface="Calibri"/>
              </a:rPr>
              <a:t>friends-</a:t>
            </a:r>
            <a:r>
              <a:rPr sz="2000" spc="-10" dirty="0">
                <a:solidFill>
                  <a:srgbClr val="222C31"/>
                </a:solidFill>
                <a:latin typeface="Calibri"/>
                <a:cs typeface="Calibri"/>
              </a:rPr>
              <a:t>of-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friends</a:t>
            </a:r>
            <a:r>
              <a:rPr sz="2000" spc="-2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based</a:t>
            </a:r>
            <a:r>
              <a:rPr sz="2000" spc="-3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on</a:t>
            </a:r>
            <a:r>
              <a:rPr sz="2000" spc="-4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mutual</a:t>
            </a:r>
            <a:r>
              <a:rPr sz="2000" spc="-3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22C31"/>
                </a:solidFill>
                <a:latin typeface="Calibri"/>
                <a:cs typeface="Calibri"/>
              </a:rPr>
              <a:t>connection</a:t>
            </a:r>
            <a:r>
              <a:rPr sz="2000" spc="-5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22C31"/>
                </a:solidFill>
                <a:latin typeface="Calibri"/>
                <a:cs typeface="Calibri"/>
              </a:rPr>
              <a:t>count.</a:t>
            </a:r>
            <a:endParaRPr sz="2000">
              <a:latin typeface="Calibri"/>
              <a:cs typeface="Calibri"/>
            </a:endParaRPr>
          </a:p>
          <a:p>
            <a:pPr marL="196215" indent="-183515">
              <a:lnSpc>
                <a:spcPct val="100000"/>
              </a:lnSpc>
              <a:spcBef>
                <a:spcPts val="1010"/>
              </a:spcBef>
              <a:buChar char="•"/>
              <a:tabLst>
                <a:tab pos="196215" algn="l"/>
              </a:tabLst>
            </a:pP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Use</a:t>
            </a:r>
            <a:r>
              <a:rPr sz="2000" spc="-5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BFS</a:t>
            </a:r>
            <a:r>
              <a:rPr sz="2000" spc="-8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22C31"/>
                </a:solidFill>
                <a:latin typeface="Calibri"/>
                <a:cs typeface="Calibri"/>
              </a:rPr>
              <a:t>demonstrate</a:t>
            </a:r>
            <a:r>
              <a:rPr sz="2000" spc="-5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graph</a:t>
            </a:r>
            <a:r>
              <a:rPr sz="2000" spc="-7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22C31"/>
                </a:solidFill>
                <a:latin typeface="Calibri"/>
                <a:cs typeface="Calibri"/>
              </a:rPr>
              <a:t>traversal</a:t>
            </a:r>
            <a:r>
              <a:rPr sz="2000" spc="-3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through</a:t>
            </a:r>
            <a:r>
              <a:rPr sz="2000" spc="-8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22C31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22C31"/>
                </a:solidFill>
                <a:latin typeface="Calibri"/>
                <a:cs typeface="Calibri"/>
              </a:rPr>
              <a:t>network.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Phase 1 - </a:t>
            </a:r>
            <a:r>
              <a:rPr spc="-10" dirty="0"/>
              <a:t>Algorithm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S.</a:t>
            </a:r>
            <a:r>
              <a:rPr spc="-25" dirty="0"/>
              <a:t> </a:t>
            </a:r>
            <a:r>
              <a:rPr dirty="0"/>
              <a:t>B.</a:t>
            </a:r>
            <a:r>
              <a:rPr spc="-10" dirty="0"/>
              <a:t> </a:t>
            </a:r>
            <a:r>
              <a:rPr dirty="0"/>
              <a:t>Jain</a:t>
            </a:r>
            <a:r>
              <a:rPr spc="-25" dirty="0"/>
              <a:t> </a:t>
            </a:r>
            <a:r>
              <a:rPr dirty="0"/>
              <a:t>Institute</a:t>
            </a:r>
            <a:r>
              <a:rPr spc="-1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Technology</a:t>
            </a:r>
            <a:r>
              <a:rPr spc="-20" dirty="0"/>
              <a:t> </a:t>
            </a:r>
            <a:r>
              <a:rPr dirty="0"/>
              <a:t>Management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Research,</a:t>
            </a:r>
            <a:r>
              <a:rPr spc="-5" dirty="0"/>
              <a:t> </a:t>
            </a:r>
            <a:r>
              <a:rPr spc="-10" dirty="0"/>
              <a:t>Nagpur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091" y="935481"/>
            <a:ext cx="5797550" cy="3757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00FF"/>
                </a:solidFill>
                <a:latin typeface="Calibri"/>
                <a:cs typeface="Calibri"/>
              </a:rPr>
              <a:t>Friend</a:t>
            </a:r>
            <a:r>
              <a:rPr sz="16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00FF"/>
                </a:solidFill>
                <a:latin typeface="Calibri"/>
                <a:cs typeface="Calibri"/>
              </a:rPr>
              <a:t>Recommendation</a:t>
            </a:r>
            <a:r>
              <a:rPr sz="16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sz="16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FF"/>
                </a:solidFill>
                <a:latin typeface="Calibri"/>
                <a:cs typeface="Calibri"/>
              </a:rPr>
              <a:t>BFS</a:t>
            </a:r>
            <a:r>
              <a:rPr sz="16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00FF"/>
                </a:solidFill>
                <a:latin typeface="Calibri"/>
                <a:cs typeface="Calibri"/>
              </a:rPr>
              <a:t>Traversal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600">
              <a:latin typeface="Calibri"/>
              <a:cs typeface="Calibri"/>
            </a:endParaRPr>
          </a:p>
          <a:p>
            <a:pPr marL="213995" indent="-165100">
              <a:lnSpc>
                <a:spcPct val="100000"/>
              </a:lnSpc>
              <a:spcBef>
                <a:spcPts val="5"/>
              </a:spcBef>
              <a:buChar char="•"/>
              <a:tabLst>
                <a:tab pos="213995" algn="l"/>
              </a:tabLst>
            </a:pP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Input</a:t>
            </a:r>
            <a:r>
              <a:rPr sz="1800" spc="-4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the</a:t>
            </a:r>
            <a:r>
              <a:rPr sz="1800" spc="-5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target</a:t>
            </a:r>
            <a:r>
              <a:rPr sz="1800" spc="-4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22C31"/>
                </a:solidFill>
                <a:latin typeface="Calibri"/>
                <a:cs typeface="Calibri"/>
              </a:rPr>
              <a:t>user.</a:t>
            </a:r>
            <a:endParaRPr sz="1800">
              <a:latin typeface="Calibri"/>
              <a:cs typeface="Calibri"/>
            </a:endParaRPr>
          </a:p>
          <a:p>
            <a:pPr marL="215265" indent="-166370">
              <a:lnSpc>
                <a:spcPct val="100000"/>
              </a:lnSpc>
              <a:spcBef>
                <a:spcPts val="1005"/>
              </a:spcBef>
              <a:buChar char="•"/>
              <a:tabLst>
                <a:tab pos="215265" algn="l"/>
              </a:tabLst>
            </a:pP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Get</a:t>
            </a:r>
            <a:r>
              <a:rPr sz="1800" spc="-2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user's</a:t>
            </a:r>
            <a:r>
              <a:rPr sz="1800" spc="-2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direct</a:t>
            </a:r>
            <a:r>
              <a:rPr sz="1800" spc="-1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friends</a:t>
            </a:r>
            <a:r>
              <a:rPr sz="1800" spc="-3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from</a:t>
            </a:r>
            <a:r>
              <a:rPr sz="1800" spc="-2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adjacency</a:t>
            </a:r>
            <a:r>
              <a:rPr sz="1800" spc="-2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list.</a:t>
            </a:r>
            <a:endParaRPr sz="1800">
              <a:latin typeface="Calibri"/>
              <a:cs typeface="Calibri"/>
            </a:endParaRPr>
          </a:p>
          <a:p>
            <a:pPr marL="213995" indent="-165100">
              <a:lnSpc>
                <a:spcPct val="100000"/>
              </a:lnSpc>
              <a:spcBef>
                <a:spcPts val="1000"/>
              </a:spcBef>
              <a:buChar char="•"/>
              <a:tabLst>
                <a:tab pos="213995" algn="l"/>
              </a:tabLst>
            </a:pP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Visit</a:t>
            </a:r>
            <a:r>
              <a:rPr sz="1800" spc="-5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each</a:t>
            </a:r>
            <a:r>
              <a:rPr sz="1800" spc="-3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direct</a:t>
            </a:r>
            <a:r>
              <a:rPr sz="1800" spc="-3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friend's</a:t>
            </a:r>
            <a:r>
              <a:rPr sz="1800" spc="-4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connections.</a:t>
            </a:r>
            <a:endParaRPr sz="1800">
              <a:latin typeface="Calibri"/>
              <a:cs typeface="Calibri"/>
            </a:endParaRPr>
          </a:p>
          <a:p>
            <a:pPr marL="213995" indent="-165100">
              <a:lnSpc>
                <a:spcPct val="100000"/>
              </a:lnSpc>
              <a:spcBef>
                <a:spcPts val="994"/>
              </a:spcBef>
              <a:buChar char="•"/>
              <a:tabLst>
                <a:tab pos="213995" algn="l"/>
              </a:tabLst>
            </a:pP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Ignore</a:t>
            </a:r>
            <a:r>
              <a:rPr sz="1800" spc="-4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the</a:t>
            </a:r>
            <a:r>
              <a:rPr sz="1800" spc="-5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target</a:t>
            </a:r>
            <a:r>
              <a:rPr sz="1800" spc="-5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user</a:t>
            </a:r>
            <a:r>
              <a:rPr sz="1800" spc="-5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and</a:t>
            </a:r>
            <a:r>
              <a:rPr sz="1800" spc="-4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existing</a:t>
            </a:r>
            <a:r>
              <a:rPr sz="1800" spc="-5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direct</a:t>
            </a:r>
            <a:r>
              <a:rPr sz="1800" spc="-4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friends.</a:t>
            </a:r>
            <a:endParaRPr sz="1800">
              <a:latin typeface="Calibri"/>
              <a:cs typeface="Calibri"/>
            </a:endParaRPr>
          </a:p>
          <a:p>
            <a:pPr marL="213995" indent="-165100">
              <a:lnSpc>
                <a:spcPct val="100000"/>
              </a:lnSpc>
              <a:spcBef>
                <a:spcPts val="1010"/>
              </a:spcBef>
              <a:buChar char="•"/>
              <a:tabLst>
                <a:tab pos="213995" algn="l"/>
              </a:tabLst>
            </a:pP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Count</a:t>
            </a:r>
            <a:r>
              <a:rPr sz="1800" spc="-6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mutual</a:t>
            </a:r>
            <a:r>
              <a:rPr sz="1800" spc="-5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connections</a:t>
            </a:r>
            <a:r>
              <a:rPr sz="1800" spc="-4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for</a:t>
            </a:r>
            <a:r>
              <a:rPr sz="1800" spc="-6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each</a:t>
            </a:r>
            <a:r>
              <a:rPr sz="1800" spc="-5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candidate.</a:t>
            </a:r>
            <a:endParaRPr sz="1800">
              <a:latin typeface="Calibri"/>
              <a:cs typeface="Calibri"/>
            </a:endParaRPr>
          </a:p>
          <a:p>
            <a:pPr marL="215265" indent="-166370">
              <a:lnSpc>
                <a:spcPct val="100000"/>
              </a:lnSpc>
              <a:spcBef>
                <a:spcPts val="994"/>
              </a:spcBef>
              <a:buChar char="•"/>
              <a:tabLst>
                <a:tab pos="215265" algn="l"/>
              </a:tabLst>
            </a:pP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Sort</a:t>
            </a:r>
            <a:r>
              <a:rPr sz="1800" spc="-3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candidates</a:t>
            </a:r>
            <a:r>
              <a:rPr sz="1800" spc="-3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by</a:t>
            </a:r>
            <a:r>
              <a:rPr sz="1800" spc="-2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mutual-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friend</a:t>
            </a:r>
            <a:r>
              <a:rPr sz="1800" spc="-2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count</a:t>
            </a:r>
            <a:r>
              <a:rPr sz="1800" spc="-3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in</a:t>
            </a:r>
            <a:r>
              <a:rPr sz="1800" spc="-2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descending</a:t>
            </a:r>
            <a:r>
              <a:rPr sz="1800" spc="-2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order.</a:t>
            </a:r>
            <a:endParaRPr sz="1800">
              <a:latin typeface="Calibri"/>
              <a:cs typeface="Calibri"/>
            </a:endParaRPr>
          </a:p>
          <a:p>
            <a:pPr marL="213995" indent="-165100">
              <a:lnSpc>
                <a:spcPct val="100000"/>
              </a:lnSpc>
              <a:spcBef>
                <a:spcPts val="1000"/>
              </a:spcBef>
              <a:buChar char="•"/>
              <a:tabLst>
                <a:tab pos="213995" algn="l"/>
              </a:tabLst>
            </a:pP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Display</a:t>
            </a:r>
            <a:r>
              <a:rPr sz="1800" spc="-5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recommended</a:t>
            </a:r>
            <a:r>
              <a:rPr sz="1800" spc="-4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friends.</a:t>
            </a:r>
            <a:endParaRPr sz="1800">
              <a:latin typeface="Calibri"/>
              <a:cs typeface="Calibri"/>
            </a:endParaRPr>
          </a:p>
          <a:p>
            <a:pPr marL="213995" indent="-165100">
              <a:lnSpc>
                <a:spcPct val="100000"/>
              </a:lnSpc>
              <a:spcBef>
                <a:spcPts val="1005"/>
              </a:spcBef>
              <a:buChar char="•"/>
              <a:tabLst>
                <a:tab pos="213995" algn="l"/>
              </a:tabLst>
            </a:pP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Use</a:t>
            </a:r>
            <a:r>
              <a:rPr sz="1800" spc="-3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BFS</a:t>
            </a:r>
            <a:r>
              <a:rPr sz="1800" spc="-4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traverse</a:t>
            </a:r>
            <a:r>
              <a:rPr sz="1800" spc="-4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network</a:t>
            </a:r>
            <a:r>
              <a:rPr sz="1800" spc="-3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level</a:t>
            </a:r>
            <a:r>
              <a:rPr sz="1800" spc="-30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22C31"/>
                </a:solidFill>
                <a:latin typeface="Calibri"/>
                <a:cs typeface="Calibri"/>
              </a:rPr>
              <a:t>by</a:t>
            </a:r>
            <a:r>
              <a:rPr sz="1800" spc="-35" dirty="0">
                <a:solidFill>
                  <a:srgbClr val="222C3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22C31"/>
                </a:solidFill>
                <a:latin typeface="Calibri"/>
                <a:cs typeface="Calibri"/>
              </a:rPr>
              <a:t>level.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Phase 1 - </a:t>
            </a:r>
            <a:r>
              <a:rPr dirty="0"/>
              <a:t>Flowchart</a:t>
            </a:r>
            <a:r>
              <a:rPr spc="-65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spc="-10" dirty="0"/>
              <a:t>Pseudocode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7155" y="1301521"/>
            <a:ext cx="2010410" cy="657225"/>
            <a:chOff x="867155" y="1301521"/>
            <a:chExt cx="2010410" cy="657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155" y="1301521"/>
              <a:ext cx="2010156" cy="65681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4399" y="1325880"/>
              <a:ext cx="1920239" cy="567055"/>
            </a:xfrm>
            <a:custGeom>
              <a:avLst/>
              <a:gdLst/>
              <a:ahLst/>
              <a:cxnLst/>
              <a:rect l="l" t="t" r="r" b="b"/>
              <a:pathLst>
                <a:path w="1920239" h="567055">
                  <a:moveTo>
                    <a:pt x="1825752" y="0"/>
                  </a:moveTo>
                  <a:lnTo>
                    <a:pt x="94487" y="0"/>
                  </a:lnTo>
                  <a:lnTo>
                    <a:pt x="57708" y="7423"/>
                  </a:lnTo>
                  <a:lnTo>
                    <a:pt x="27674" y="27670"/>
                  </a:lnTo>
                  <a:lnTo>
                    <a:pt x="7425" y="57703"/>
                  </a:lnTo>
                  <a:lnTo>
                    <a:pt x="0" y="94487"/>
                  </a:lnTo>
                  <a:lnTo>
                    <a:pt x="0" y="472440"/>
                  </a:lnTo>
                  <a:lnTo>
                    <a:pt x="7425" y="509224"/>
                  </a:lnTo>
                  <a:lnTo>
                    <a:pt x="27674" y="539257"/>
                  </a:lnTo>
                  <a:lnTo>
                    <a:pt x="57708" y="559504"/>
                  </a:lnTo>
                  <a:lnTo>
                    <a:pt x="94487" y="566928"/>
                  </a:lnTo>
                  <a:lnTo>
                    <a:pt x="1825752" y="566928"/>
                  </a:lnTo>
                  <a:lnTo>
                    <a:pt x="1862536" y="559504"/>
                  </a:lnTo>
                  <a:lnTo>
                    <a:pt x="1892569" y="539257"/>
                  </a:lnTo>
                  <a:lnTo>
                    <a:pt x="1912816" y="509224"/>
                  </a:lnTo>
                  <a:lnTo>
                    <a:pt x="1920239" y="472440"/>
                  </a:lnTo>
                  <a:lnTo>
                    <a:pt x="1920239" y="94487"/>
                  </a:lnTo>
                  <a:lnTo>
                    <a:pt x="1912816" y="57703"/>
                  </a:lnTo>
                  <a:lnTo>
                    <a:pt x="1892569" y="27670"/>
                  </a:lnTo>
                  <a:lnTo>
                    <a:pt x="1862536" y="7423"/>
                  </a:lnTo>
                  <a:lnTo>
                    <a:pt x="1825752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4399" y="1325880"/>
              <a:ext cx="1920239" cy="567055"/>
            </a:xfrm>
            <a:custGeom>
              <a:avLst/>
              <a:gdLst/>
              <a:ahLst/>
              <a:cxnLst/>
              <a:rect l="l" t="t" r="r" b="b"/>
              <a:pathLst>
                <a:path w="1920239" h="567055">
                  <a:moveTo>
                    <a:pt x="0" y="94487"/>
                  </a:moveTo>
                  <a:lnTo>
                    <a:pt x="7425" y="57703"/>
                  </a:lnTo>
                  <a:lnTo>
                    <a:pt x="27674" y="27670"/>
                  </a:lnTo>
                  <a:lnTo>
                    <a:pt x="57708" y="7423"/>
                  </a:lnTo>
                  <a:lnTo>
                    <a:pt x="94487" y="0"/>
                  </a:lnTo>
                  <a:lnTo>
                    <a:pt x="1825752" y="0"/>
                  </a:lnTo>
                  <a:lnTo>
                    <a:pt x="1862536" y="7423"/>
                  </a:lnTo>
                  <a:lnTo>
                    <a:pt x="1892569" y="27670"/>
                  </a:lnTo>
                  <a:lnTo>
                    <a:pt x="1912816" y="57703"/>
                  </a:lnTo>
                  <a:lnTo>
                    <a:pt x="1920239" y="94487"/>
                  </a:lnTo>
                  <a:lnTo>
                    <a:pt x="1920239" y="472440"/>
                  </a:lnTo>
                  <a:lnTo>
                    <a:pt x="1912816" y="509224"/>
                  </a:lnTo>
                  <a:lnTo>
                    <a:pt x="1892569" y="539257"/>
                  </a:lnTo>
                  <a:lnTo>
                    <a:pt x="1862536" y="559504"/>
                  </a:lnTo>
                  <a:lnTo>
                    <a:pt x="1825752" y="566928"/>
                  </a:lnTo>
                  <a:lnTo>
                    <a:pt x="94487" y="566928"/>
                  </a:lnTo>
                  <a:lnTo>
                    <a:pt x="57708" y="559504"/>
                  </a:lnTo>
                  <a:lnTo>
                    <a:pt x="27674" y="539257"/>
                  </a:lnTo>
                  <a:lnTo>
                    <a:pt x="7425" y="509224"/>
                  </a:lnTo>
                  <a:lnTo>
                    <a:pt x="0" y="472440"/>
                  </a:lnTo>
                  <a:lnTo>
                    <a:pt x="0" y="94487"/>
                  </a:lnTo>
                  <a:close/>
                </a:path>
              </a:pathLst>
            </a:custGeom>
            <a:ln w="952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67636" y="1496314"/>
            <a:ext cx="4121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START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81755" y="1301521"/>
            <a:ext cx="2010410" cy="657225"/>
            <a:chOff x="3381755" y="1301521"/>
            <a:chExt cx="2010410" cy="65722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1755" y="1301521"/>
              <a:ext cx="2010155" cy="65681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428999" y="1325880"/>
              <a:ext cx="1920239" cy="567055"/>
            </a:xfrm>
            <a:custGeom>
              <a:avLst/>
              <a:gdLst/>
              <a:ahLst/>
              <a:cxnLst/>
              <a:rect l="l" t="t" r="r" b="b"/>
              <a:pathLst>
                <a:path w="1920239" h="567055">
                  <a:moveTo>
                    <a:pt x="1825752" y="0"/>
                  </a:moveTo>
                  <a:lnTo>
                    <a:pt x="94487" y="0"/>
                  </a:lnTo>
                  <a:lnTo>
                    <a:pt x="57703" y="7423"/>
                  </a:lnTo>
                  <a:lnTo>
                    <a:pt x="27670" y="27670"/>
                  </a:lnTo>
                  <a:lnTo>
                    <a:pt x="7423" y="57703"/>
                  </a:lnTo>
                  <a:lnTo>
                    <a:pt x="0" y="94487"/>
                  </a:lnTo>
                  <a:lnTo>
                    <a:pt x="0" y="472440"/>
                  </a:lnTo>
                  <a:lnTo>
                    <a:pt x="7423" y="509224"/>
                  </a:lnTo>
                  <a:lnTo>
                    <a:pt x="27670" y="539257"/>
                  </a:lnTo>
                  <a:lnTo>
                    <a:pt x="57703" y="559504"/>
                  </a:lnTo>
                  <a:lnTo>
                    <a:pt x="94487" y="566928"/>
                  </a:lnTo>
                  <a:lnTo>
                    <a:pt x="1825752" y="566928"/>
                  </a:lnTo>
                  <a:lnTo>
                    <a:pt x="1862536" y="559504"/>
                  </a:lnTo>
                  <a:lnTo>
                    <a:pt x="1892569" y="539257"/>
                  </a:lnTo>
                  <a:lnTo>
                    <a:pt x="1912816" y="509224"/>
                  </a:lnTo>
                  <a:lnTo>
                    <a:pt x="1920239" y="472440"/>
                  </a:lnTo>
                  <a:lnTo>
                    <a:pt x="1920239" y="94487"/>
                  </a:lnTo>
                  <a:lnTo>
                    <a:pt x="1912816" y="57703"/>
                  </a:lnTo>
                  <a:lnTo>
                    <a:pt x="1892569" y="27670"/>
                  </a:lnTo>
                  <a:lnTo>
                    <a:pt x="1862536" y="7423"/>
                  </a:lnTo>
                  <a:lnTo>
                    <a:pt x="1825752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28999" y="1325880"/>
              <a:ext cx="1920239" cy="567055"/>
            </a:xfrm>
            <a:custGeom>
              <a:avLst/>
              <a:gdLst/>
              <a:ahLst/>
              <a:cxnLst/>
              <a:rect l="l" t="t" r="r" b="b"/>
              <a:pathLst>
                <a:path w="1920239" h="567055">
                  <a:moveTo>
                    <a:pt x="0" y="94487"/>
                  </a:moveTo>
                  <a:lnTo>
                    <a:pt x="7423" y="57703"/>
                  </a:lnTo>
                  <a:lnTo>
                    <a:pt x="27670" y="27670"/>
                  </a:lnTo>
                  <a:lnTo>
                    <a:pt x="57703" y="7423"/>
                  </a:lnTo>
                  <a:lnTo>
                    <a:pt x="94487" y="0"/>
                  </a:lnTo>
                  <a:lnTo>
                    <a:pt x="1825752" y="0"/>
                  </a:lnTo>
                  <a:lnTo>
                    <a:pt x="1862536" y="7423"/>
                  </a:lnTo>
                  <a:lnTo>
                    <a:pt x="1892569" y="27670"/>
                  </a:lnTo>
                  <a:lnTo>
                    <a:pt x="1912816" y="57703"/>
                  </a:lnTo>
                  <a:lnTo>
                    <a:pt x="1920239" y="94487"/>
                  </a:lnTo>
                  <a:lnTo>
                    <a:pt x="1920239" y="472440"/>
                  </a:lnTo>
                  <a:lnTo>
                    <a:pt x="1912816" y="509224"/>
                  </a:lnTo>
                  <a:lnTo>
                    <a:pt x="1892569" y="539257"/>
                  </a:lnTo>
                  <a:lnTo>
                    <a:pt x="1862536" y="559504"/>
                  </a:lnTo>
                  <a:lnTo>
                    <a:pt x="1825752" y="566928"/>
                  </a:lnTo>
                  <a:lnTo>
                    <a:pt x="94487" y="566928"/>
                  </a:lnTo>
                  <a:lnTo>
                    <a:pt x="57703" y="559504"/>
                  </a:lnTo>
                  <a:lnTo>
                    <a:pt x="27670" y="539257"/>
                  </a:lnTo>
                  <a:lnTo>
                    <a:pt x="7423" y="509224"/>
                  </a:lnTo>
                  <a:lnTo>
                    <a:pt x="0" y="472440"/>
                  </a:lnTo>
                  <a:lnTo>
                    <a:pt x="0" y="94487"/>
                  </a:lnTo>
                  <a:close/>
                </a:path>
              </a:pathLst>
            </a:custGeom>
            <a:ln w="952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50385" y="1496314"/>
            <a:ext cx="10782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Enter</a:t>
            </a:r>
            <a:r>
              <a:rPr sz="12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C00000"/>
                </a:solidFill>
                <a:latin typeface="Calibri"/>
                <a:cs typeface="Calibri"/>
              </a:rPr>
              <a:t>Expression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902452" y="1263421"/>
            <a:ext cx="2010410" cy="657225"/>
            <a:chOff x="5902452" y="1263421"/>
            <a:chExt cx="2010410" cy="65722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2452" y="1263421"/>
              <a:ext cx="2010155" cy="65681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949315" y="1287526"/>
              <a:ext cx="1920239" cy="567055"/>
            </a:xfrm>
            <a:custGeom>
              <a:avLst/>
              <a:gdLst/>
              <a:ahLst/>
              <a:cxnLst/>
              <a:rect l="l" t="t" r="r" b="b"/>
              <a:pathLst>
                <a:path w="1920240" h="567055">
                  <a:moveTo>
                    <a:pt x="1825752" y="0"/>
                  </a:moveTo>
                  <a:lnTo>
                    <a:pt x="94487" y="0"/>
                  </a:lnTo>
                  <a:lnTo>
                    <a:pt x="57703" y="7443"/>
                  </a:lnTo>
                  <a:lnTo>
                    <a:pt x="27670" y="27733"/>
                  </a:lnTo>
                  <a:lnTo>
                    <a:pt x="7423" y="57810"/>
                  </a:lnTo>
                  <a:lnTo>
                    <a:pt x="0" y="94614"/>
                  </a:lnTo>
                  <a:lnTo>
                    <a:pt x="0" y="472439"/>
                  </a:lnTo>
                  <a:lnTo>
                    <a:pt x="7423" y="509224"/>
                  </a:lnTo>
                  <a:lnTo>
                    <a:pt x="27670" y="539257"/>
                  </a:lnTo>
                  <a:lnTo>
                    <a:pt x="57703" y="559504"/>
                  </a:lnTo>
                  <a:lnTo>
                    <a:pt x="94487" y="566927"/>
                  </a:lnTo>
                  <a:lnTo>
                    <a:pt x="1825752" y="566927"/>
                  </a:lnTo>
                  <a:lnTo>
                    <a:pt x="1862536" y="559504"/>
                  </a:lnTo>
                  <a:lnTo>
                    <a:pt x="1892569" y="539257"/>
                  </a:lnTo>
                  <a:lnTo>
                    <a:pt x="1912816" y="509224"/>
                  </a:lnTo>
                  <a:lnTo>
                    <a:pt x="1920239" y="472439"/>
                  </a:lnTo>
                  <a:lnTo>
                    <a:pt x="1920239" y="94614"/>
                  </a:lnTo>
                  <a:lnTo>
                    <a:pt x="1912816" y="57810"/>
                  </a:lnTo>
                  <a:lnTo>
                    <a:pt x="1892569" y="27733"/>
                  </a:lnTo>
                  <a:lnTo>
                    <a:pt x="1862536" y="7443"/>
                  </a:lnTo>
                  <a:lnTo>
                    <a:pt x="1825752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49315" y="1287526"/>
              <a:ext cx="1920239" cy="567055"/>
            </a:xfrm>
            <a:custGeom>
              <a:avLst/>
              <a:gdLst/>
              <a:ahLst/>
              <a:cxnLst/>
              <a:rect l="l" t="t" r="r" b="b"/>
              <a:pathLst>
                <a:path w="1920240" h="567055">
                  <a:moveTo>
                    <a:pt x="0" y="94614"/>
                  </a:moveTo>
                  <a:lnTo>
                    <a:pt x="7423" y="57810"/>
                  </a:lnTo>
                  <a:lnTo>
                    <a:pt x="27670" y="27733"/>
                  </a:lnTo>
                  <a:lnTo>
                    <a:pt x="57703" y="7443"/>
                  </a:lnTo>
                  <a:lnTo>
                    <a:pt x="94487" y="0"/>
                  </a:lnTo>
                  <a:lnTo>
                    <a:pt x="1825752" y="0"/>
                  </a:lnTo>
                  <a:lnTo>
                    <a:pt x="1862536" y="7443"/>
                  </a:lnTo>
                  <a:lnTo>
                    <a:pt x="1892569" y="27733"/>
                  </a:lnTo>
                  <a:lnTo>
                    <a:pt x="1912816" y="57810"/>
                  </a:lnTo>
                  <a:lnTo>
                    <a:pt x="1920239" y="94614"/>
                  </a:lnTo>
                  <a:lnTo>
                    <a:pt x="1920239" y="472439"/>
                  </a:lnTo>
                  <a:lnTo>
                    <a:pt x="1912816" y="509224"/>
                  </a:lnTo>
                  <a:lnTo>
                    <a:pt x="1892569" y="539257"/>
                  </a:lnTo>
                  <a:lnTo>
                    <a:pt x="1862536" y="559504"/>
                  </a:lnTo>
                  <a:lnTo>
                    <a:pt x="1825752" y="566927"/>
                  </a:lnTo>
                  <a:lnTo>
                    <a:pt x="94487" y="566927"/>
                  </a:lnTo>
                  <a:lnTo>
                    <a:pt x="57703" y="559504"/>
                  </a:lnTo>
                  <a:lnTo>
                    <a:pt x="27670" y="539257"/>
                  </a:lnTo>
                  <a:lnTo>
                    <a:pt x="7423" y="509224"/>
                  </a:lnTo>
                  <a:lnTo>
                    <a:pt x="0" y="472439"/>
                  </a:lnTo>
                  <a:lnTo>
                    <a:pt x="0" y="94614"/>
                  </a:lnTo>
                  <a:close/>
                </a:path>
              </a:pathLst>
            </a:custGeom>
            <a:ln w="952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287261" y="1457655"/>
            <a:ext cx="1244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E40000"/>
                </a:solidFill>
                <a:latin typeface="Calibri"/>
                <a:cs typeface="Calibri"/>
              </a:rPr>
              <a:t>Create</a:t>
            </a:r>
            <a:r>
              <a:rPr sz="1200" b="1" spc="-60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40000"/>
                </a:solidFill>
                <a:latin typeface="Calibri"/>
                <a:cs typeface="Calibri"/>
              </a:rPr>
              <a:t>Empty</a:t>
            </a:r>
            <a:r>
              <a:rPr sz="1200" b="1" spc="-45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E40000"/>
                </a:solidFill>
                <a:latin typeface="Calibri"/>
                <a:cs typeface="Calibri"/>
              </a:rPr>
              <a:t>Stack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81455" y="2151888"/>
            <a:ext cx="2444750" cy="1470660"/>
            <a:chOff x="981455" y="2151888"/>
            <a:chExt cx="2444750" cy="147066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1455" y="2151888"/>
              <a:ext cx="2444496" cy="14706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5651" y="2275332"/>
              <a:ext cx="2112264" cy="109423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028699" y="2176272"/>
              <a:ext cx="2354580" cy="1381125"/>
            </a:xfrm>
            <a:custGeom>
              <a:avLst/>
              <a:gdLst/>
              <a:ahLst/>
              <a:cxnLst/>
              <a:rect l="l" t="t" r="r" b="b"/>
              <a:pathLst>
                <a:path w="2354579" h="1381125">
                  <a:moveTo>
                    <a:pt x="2167255" y="0"/>
                  </a:moveTo>
                  <a:lnTo>
                    <a:pt x="187274" y="0"/>
                  </a:lnTo>
                  <a:lnTo>
                    <a:pt x="137489" y="6688"/>
                  </a:lnTo>
                  <a:lnTo>
                    <a:pt x="92753" y="25564"/>
                  </a:lnTo>
                  <a:lnTo>
                    <a:pt x="54851" y="54848"/>
                  </a:lnTo>
                  <a:lnTo>
                    <a:pt x="25568" y="92757"/>
                  </a:lnTo>
                  <a:lnTo>
                    <a:pt x="6689" y="137509"/>
                  </a:lnTo>
                  <a:lnTo>
                    <a:pt x="0" y="187325"/>
                  </a:lnTo>
                  <a:lnTo>
                    <a:pt x="0" y="1193418"/>
                  </a:lnTo>
                  <a:lnTo>
                    <a:pt x="6689" y="1243234"/>
                  </a:lnTo>
                  <a:lnTo>
                    <a:pt x="25568" y="1287986"/>
                  </a:lnTo>
                  <a:lnTo>
                    <a:pt x="54851" y="1325895"/>
                  </a:lnTo>
                  <a:lnTo>
                    <a:pt x="92753" y="1355179"/>
                  </a:lnTo>
                  <a:lnTo>
                    <a:pt x="137489" y="1374055"/>
                  </a:lnTo>
                  <a:lnTo>
                    <a:pt x="187274" y="1380743"/>
                  </a:lnTo>
                  <a:lnTo>
                    <a:pt x="2167255" y="1380743"/>
                  </a:lnTo>
                  <a:lnTo>
                    <a:pt x="2217070" y="1374055"/>
                  </a:lnTo>
                  <a:lnTo>
                    <a:pt x="2261822" y="1355179"/>
                  </a:lnTo>
                  <a:lnTo>
                    <a:pt x="2299731" y="1325895"/>
                  </a:lnTo>
                  <a:lnTo>
                    <a:pt x="2329015" y="1287986"/>
                  </a:lnTo>
                  <a:lnTo>
                    <a:pt x="2347891" y="1243234"/>
                  </a:lnTo>
                  <a:lnTo>
                    <a:pt x="2354579" y="1193418"/>
                  </a:lnTo>
                  <a:lnTo>
                    <a:pt x="2354579" y="187325"/>
                  </a:lnTo>
                  <a:lnTo>
                    <a:pt x="2347891" y="137509"/>
                  </a:lnTo>
                  <a:lnTo>
                    <a:pt x="2329015" y="92757"/>
                  </a:lnTo>
                  <a:lnTo>
                    <a:pt x="2299731" y="54848"/>
                  </a:lnTo>
                  <a:lnTo>
                    <a:pt x="2261822" y="25564"/>
                  </a:lnTo>
                  <a:lnTo>
                    <a:pt x="2217070" y="6688"/>
                  </a:lnTo>
                  <a:lnTo>
                    <a:pt x="2167255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28699" y="2176272"/>
              <a:ext cx="2354580" cy="1381125"/>
            </a:xfrm>
            <a:custGeom>
              <a:avLst/>
              <a:gdLst/>
              <a:ahLst/>
              <a:cxnLst/>
              <a:rect l="l" t="t" r="r" b="b"/>
              <a:pathLst>
                <a:path w="2354579" h="1381125">
                  <a:moveTo>
                    <a:pt x="0" y="187325"/>
                  </a:moveTo>
                  <a:lnTo>
                    <a:pt x="6689" y="137509"/>
                  </a:lnTo>
                  <a:lnTo>
                    <a:pt x="25568" y="92757"/>
                  </a:lnTo>
                  <a:lnTo>
                    <a:pt x="54851" y="54848"/>
                  </a:lnTo>
                  <a:lnTo>
                    <a:pt x="92753" y="25564"/>
                  </a:lnTo>
                  <a:lnTo>
                    <a:pt x="137489" y="6688"/>
                  </a:lnTo>
                  <a:lnTo>
                    <a:pt x="187274" y="0"/>
                  </a:lnTo>
                  <a:lnTo>
                    <a:pt x="2167255" y="0"/>
                  </a:lnTo>
                  <a:lnTo>
                    <a:pt x="2217070" y="6688"/>
                  </a:lnTo>
                  <a:lnTo>
                    <a:pt x="2261822" y="25564"/>
                  </a:lnTo>
                  <a:lnTo>
                    <a:pt x="2299731" y="54848"/>
                  </a:lnTo>
                  <a:lnTo>
                    <a:pt x="2329015" y="92757"/>
                  </a:lnTo>
                  <a:lnTo>
                    <a:pt x="2347891" y="137509"/>
                  </a:lnTo>
                  <a:lnTo>
                    <a:pt x="2354579" y="187325"/>
                  </a:lnTo>
                  <a:lnTo>
                    <a:pt x="2354579" y="1193418"/>
                  </a:lnTo>
                  <a:lnTo>
                    <a:pt x="2347891" y="1243234"/>
                  </a:lnTo>
                  <a:lnTo>
                    <a:pt x="2329015" y="1287986"/>
                  </a:lnTo>
                  <a:lnTo>
                    <a:pt x="2299731" y="1325895"/>
                  </a:lnTo>
                  <a:lnTo>
                    <a:pt x="2261822" y="1355179"/>
                  </a:lnTo>
                  <a:lnTo>
                    <a:pt x="2217070" y="1374055"/>
                  </a:lnTo>
                  <a:lnTo>
                    <a:pt x="2167255" y="1380743"/>
                  </a:lnTo>
                  <a:lnTo>
                    <a:pt x="187274" y="1380743"/>
                  </a:lnTo>
                  <a:lnTo>
                    <a:pt x="137489" y="1374055"/>
                  </a:lnTo>
                  <a:lnTo>
                    <a:pt x="92753" y="1355179"/>
                  </a:lnTo>
                  <a:lnTo>
                    <a:pt x="54851" y="1325895"/>
                  </a:lnTo>
                  <a:lnTo>
                    <a:pt x="25568" y="1287986"/>
                  </a:lnTo>
                  <a:lnTo>
                    <a:pt x="6689" y="1243234"/>
                  </a:lnTo>
                  <a:lnTo>
                    <a:pt x="0" y="1193418"/>
                  </a:lnTo>
                  <a:lnTo>
                    <a:pt x="0" y="187325"/>
                  </a:lnTo>
                  <a:close/>
                </a:path>
              </a:pathLst>
            </a:custGeom>
            <a:ln w="952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62608" y="2324226"/>
            <a:ext cx="1842135" cy="879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E40000"/>
                </a:solidFill>
                <a:latin typeface="Calibri"/>
                <a:cs typeface="Calibri"/>
              </a:rPr>
              <a:t>it</a:t>
            </a:r>
            <a:r>
              <a:rPr sz="1400" b="1" spc="-5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E40000"/>
                </a:solidFill>
                <a:latin typeface="Calibri"/>
                <a:cs typeface="Calibri"/>
              </a:rPr>
              <a:t>an</a:t>
            </a:r>
            <a:r>
              <a:rPr sz="1400" b="1" spc="-25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E40000"/>
                </a:solidFill>
                <a:latin typeface="Calibri"/>
                <a:cs typeface="Calibri"/>
              </a:rPr>
              <a:t>Opening</a:t>
            </a:r>
            <a:r>
              <a:rPr sz="1400" b="1" spc="-40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E40000"/>
                </a:solidFill>
                <a:latin typeface="Calibri"/>
                <a:cs typeface="Calibri"/>
              </a:rPr>
              <a:t>Symbol?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E40000"/>
                </a:solidFill>
                <a:latin typeface="Calibri"/>
                <a:cs typeface="Calibri"/>
              </a:rPr>
              <a:t>→</a:t>
            </a:r>
            <a:r>
              <a:rPr sz="1400" spc="-50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E40000"/>
                </a:solidFill>
                <a:latin typeface="Calibri"/>
                <a:cs typeface="Calibri"/>
              </a:rPr>
              <a:t>YES:</a:t>
            </a:r>
            <a:r>
              <a:rPr sz="1400" b="1" spc="-40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E40000"/>
                </a:solidFill>
                <a:latin typeface="Calibri"/>
                <a:cs typeface="Calibri"/>
              </a:rPr>
              <a:t>Push</a:t>
            </a:r>
            <a:r>
              <a:rPr sz="1400" spc="-15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E40000"/>
                </a:solidFill>
                <a:latin typeface="Calibri"/>
                <a:cs typeface="Calibri"/>
              </a:rPr>
              <a:t>into</a:t>
            </a:r>
            <a:r>
              <a:rPr sz="1400" spc="-25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E40000"/>
                </a:solidFill>
                <a:latin typeface="Calibri"/>
                <a:cs typeface="Calibri"/>
              </a:rPr>
              <a:t>Stack</a:t>
            </a:r>
            <a:endParaRPr sz="1400">
              <a:latin typeface="Calibri"/>
              <a:cs typeface="Calibri"/>
            </a:endParaRPr>
          </a:p>
          <a:p>
            <a:pPr marL="12700" marR="303530">
              <a:lnSpc>
                <a:spcPct val="100000"/>
              </a:lnSpc>
            </a:pPr>
            <a:r>
              <a:rPr sz="1400" dirty="0">
                <a:solidFill>
                  <a:srgbClr val="E40000"/>
                </a:solidFill>
                <a:latin typeface="Calibri"/>
                <a:cs typeface="Calibri"/>
              </a:rPr>
              <a:t>→</a:t>
            </a:r>
            <a:r>
              <a:rPr sz="1400" spc="-45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E40000"/>
                </a:solidFill>
                <a:latin typeface="Calibri"/>
                <a:cs typeface="Calibri"/>
              </a:rPr>
              <a:t>NO:</a:t>
            </a:r>
            <a:r>
              <a:rPr sz="1400" b="1" spc="-20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E40000"/>
                </a:solidFill>
                <a:latin typeface="Calibri"/>
                <a:cs typeface="Calibri"/>
              </a:rPr>
              <a:t>Check</a:t>
            </a:r>
            <a:r>
              <a:rPr sz="1400" spc="-25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E40000"/>
                </a:solidFill>
                <a:latin typeface="Calibri"/>
                <a:cs typeface="Calibri"/>
              </a:rPr>
              <a:t>Closing Symbol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160264" y="2531389"/>
            <a:ext cx="2010410" cy="657225"/>
            <a:chOff x="5160264" y="2531389"/>
            <a:chExt cx="2010410" cy="65722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60264" y="2531389"/>
              <a:ext cx="2010156" cy="65681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207508" y="2555748"/>
              <a:ext cx="1920239" cy="567055"/>
            </a:xfrm>
            <a:custGeom>
              <a:avLst/>
              <a:gdLst/>
              <a:ahLst/>
              <a:cxnLst/>
              <a:rect l="l" t="t" r="r" b="b"/>
              <a:pathLst>
                <a:path w="1920240" h="567055">
                  <a:moveTo>
                    <a:pt x="1825751" y="0"/>
                  </a:moveTo>
                  <a:lnTo>
                    <a:pt x="94487" y="0"/>
                  </a:lnTo>
                  <a:lnTo>
                    <a:pt x="57703" y="7423"/>
                  </a:lnTo>
                  <a:lnTo>
                    <a:pt x="27670" y="27670"/>
                  </a:lnTo>
                  <a:lnTo>
                    <a:pt x="7423" y="57703"/>
                  </a:lnTo>
                  <a:lnTo>
                    <a:pt x="0" y="94487"/>
                  </a:lnTo>
                  <a:lnTo>
                    <a:pt x="0" y="472439"/>
                  </a:lnTo>
                  <a:lnTo>
                    <a:pt x="7423" y="509224"/>
                  </a:lnTo>
                  <a:lnTo>
                    <a:pt x="27670" y="539257"/>
                  </a:lnTo>
                  <a:lnTo>
                    <a:pt x="57703" y="559504"/>
                  </a:lnTo>
                  <a:lnTo>
                    <a:pt x="94487" y="566927"/>
                  </a:lnTo>
                  <a:lnTo>
                    <a:pt x="1825751" y="566927"/>
                  </a:lnTo>
                  <a:lnTo>
                    <a:pt x="1862536" y="559504"/>
                  </a:lnTo>
                  <a:lnTo>
                    <a:pt x="1892569" y="539257"/>
                  </a:lnTo>
                  <a:lnTo>
                    <a:pt x="1912816" y="509224"/>
                  </a:lnTo>
                  <a:lnTo>
                    <a:pt x="1920239" y="472439"/>
                  </a:lnTo>
                  <a:lnTo>
                    <a:pt x="1920239" y="94487"/>
                  </a:lnTo>
                  <a:lnTo>
                    <a:pt x="1912816" y="57703"/>
                  </a:lnTo>
                  <a:lnTo>
                    <a:pt x="1892569" y="27670"/>
                  </a:lnTo>
                  <a:lnTo>
                    <a:pt x="1862536" y="7423"/>
                  </a:lnTo>
                  <a:lnTo>
                    <a:pt x="1825751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07508" y="2555748"/>
              <a:ext cx="1920239" cy="567055"/>
            </a:xfrm>
            <a:custGeom>
              <a:avLst/>
              <a:gdLst/>
              <a:ahLst/>
              <a:cxnLst/>
              <a:rect l="l" t="t" r="r" b="b"/>
              <a:pathLst>
                <a:path w="1920240" h="567055">
                  <a:moveTo>
                    <a:pt x="0" y="94487"/>
                  </a:moveTo>
                  <a:lnTo>
                    <a:pt x="7423" y="57703"/>
                  </a:lnTo>
                  <a:lnTo>
                    <a:pt x="27670" y="27670"/>
                  </a:lnTo>
                  <a:lnTo>
                    <a:pt x="57703" y="7423"/>
                  </a:lnTo>
                  <a:lnTo>
                    <a:pt x="94487" y="0"/>
                  </a:lnTo>
                  <a:lnTo>
                    <a:pt x="1825751" y="0"/>
                  </a:lnTo>
                  <a:lnTo>
                    <a:pt x="1862536" y="7423"/>
                  </a:lnTo>
                  <a:lnTo>
                    <a:pt x="1892569" y="27670"/>
                  </a:lnTo>
                  <a:lnTo>
                    <a:pt x="1912816" y="57703"/>
                  </a:lnTo>
                  <a:lnTo>
                    <a:pt x="1920239" y="94487"/>
                  </a:lnTo>
                  <a:lnTo>
                    <a:pt x="1920239" y="472439"/>
                  </a:lnTo>
                  <a:lnTo>
                    <a:pt x="1912816" y="509224"/>
                  </a:lnTo>
                  <a:lnTo>
                    <a:pt x="1892569" y="539257"/>
                  </a:lnTo>
                  <a:lnTo>
                    <a:pt x="1862536" y="559504"/>
                  </a:lnTo>
                  <a:lnTo>
                    <a:pt x="1825751" y="566927"/>
                  </a:lnTo>
                  <a:lnTo>
                    <a:pt x="94487" y="566927"/>
                  </a:lnTo>
                  <a:lnTo>
                    <a:pt x="57703" y="559504"/>
                  </a:lnTo>
                  <a:lnTo>
                    <a:pt x="27670" y="539257"/>
                  </a:lnTo>
                  <a:lnTo>
                    <a:pt x="7423" y="509224"/>
                  </a:lnTo>
                  <a:lnTo>
                    <a:pt x="0" y="472439"/>
                  </a:lnTo>
                  <a:lnTo>
                    <a:pt x="0" y="94487"/>
                  </a:lnTo>
                  <a:close/>
                </a:path>
              </a:pathLst>
            </a:custGeom>
            <a:ln w="952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581903" y="2726563"/>
            <a:ext cx="1171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E40000"/>
                </a:solidFill>
                <a:latin typeface="Calibri"/>
                <a:cs typeface="Calibri"/>
              </a:rPr>
              <a:t>Read</a:t>
            </a:r>
            <a:r>
              <a:rPr sz="1200" b="1" spc="-35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40000"/>
                </a:solidFill>
                <a:latin typeface="Calibri"/>
                <a:cs typeface="Calibri"/>
              </a:rPr>
              <a:t>Each</a:t>
            </a:r>
            <a:r>
              <a:rPr sz="1200" b="1" spc="-35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40000"/>
                </a:solidFill>
                <a:latin typeface="Calibri"/>
                <a:cs typeface="Calibri"/>
              </a:rPr>
              <a:t>Symbol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81455" y="3880103"/>
            <a:ext cx="2444750" cy="1201420"/>
            <a:chOff x="981455" y="3880103"/>
            <a:chExt cx="2444750" cy="1201420"/>
          </a:xfrm>
        </p:grpSpPr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1455" y="3880103"/>
              <a:ext cx="2444496" cy="120091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5651" y="3974579"/>
              <a:ext cx="2138172" cy="88088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028699" y="3904487"/>
              <a:ext cx="2354580" cy="1110615"/>
            </a:xfrm>
            <a:custGeom>
              <a:avLst/>
              <a:gdLst/>
              <a:ahLst/>
              <a:cxnLst/>
              <a:rect l="l" t="t" r="r" b="b"/>
              <a:pathLst>
                <a:path w="2354579" h="1110614">
                  <a:moveTo>
                    <a:pt x="2169541" y="0"/>
                  </a:moveTo>
                  <a:lnTo>
                    <a:pt x="185077" y="0"/>
                  </a:lnTo>
                  <a:lnTo>
                    <a:pt x="135878" y="6606"/>
                  </a:lnTo>
                  <a:lnTo>
                    <a:pt x="91667" y="25254"/>
                  </a:lnTo>
                  <a:lnTo>
                    <a:pt x="54209" y="54181"/>
                  </a:lnTo>
                  <a:lnTo>
                    <a:pt x="25269" y="91628"/>
                  </a:lnTo>
                  <a:lnTo>
                    <a:pt x="6611" y="135834"/>
                  </a:lnTo>
                  <a:lnTo>
                    <a:pt x="0" y="185038"/>
                  </a:lnTo>
                  <a:lnTo>
                    <a:pt x="0" y="925322"/>
                  </a:lnTo>
                  <a:lnTo>
                    <a:pt x="6611" y="974536"/>
                  </a:lnTo>
                  <a:lnTo>
                    <a:pt x="25269" y="1018765"/>
                  </a:lnTo>
                  <a:lnTo>
                    <a:pt x="54209" y="1056243"/>
                  </a:lnTo>
                  <a:lnTo>
                    <a:pt x="91667" y="1085200"/>
                  </a:lnTo>
                  <a:lnTo>
                    <a:pt x="135878" y="1103871"/>
                  </a:lnTo>
                  <a:lnTo>
                    <a:pt x="185077" y="1110488"/>
                  </a:lnTo>
                  <a:lnTo>
                    <a:pt x="2169541" y="1110488"/>
                  </a:lnTo>
                  <a:lnTo>
                    <a:pt x="2218745" y="1103871"/>
                  </a:lnTo>
                  <a:lnTo>
                    <a:pt x="2262951" y="1085200"/>
                  </a:lnTo>
                  <a:lnTo>
                    <a:pt x="2300398" y="1056243"/>
                  </a:lnTo>
                  <a:lnTo>
                    <a:pt x="2329325" y="1018765"/>
                  </a:lnTo>
                  <a:lnTo>
                    <a:pt x="2347973" y="974536"/>
                  </a:lnTo>
                  <a:lnTo>
                    <a:pt x="2354579" y="925322"/>
                  </a:lnTo>
                  <a:lnTo>
                    <a:pt x="2354579" y="185038"/>
                  </a:lnTo>
                  <a:lnTo>
                    <a:pt x="2347973" y="135834"/>
                  </a:lnTo>
                  <a:lnTo>
                    <a:pt x="2329325" y="91628"/>
                  </a:lnTo>
                  <a:lnTo>
                    <a:pt x="2300398" y="54181"/>
                  </a:lnTo>
                  <a:lnTo>
                    <a:pt x="2262951" y="25254"/>
                  </a:lnTo>
                  <a:lnTo>
                    <a:pt x="2218745" y="6606"/>
                  </a:lnTo>
                  <a:lnTo>
                    <a:pt x="2169541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28699" y="3904487"/>
              <a:ext cx="2354580" cy="1110615"/>
            </a:xfrm>
            <a:custGeom>
              <a:avLst/>
              <a:gdLst/>
              <a:ahLst/>
              <a:cxnLst/>
              <a:rect l="l" t="t" r="r" b="b"/>
              <a:pathLst>
                <a:path w="2354579" h="1110614">
                  <a:moveTo>
                    <a:pt x="0" y="185038"/>
                  </a:moveTo>
                  <a:lnTo>
                    <a:pt x="6611" y="135834"/>
                  </a:lnTo>
                  <a:lnTo>
                    <a:pt x="25269" y="91628"/>
                  </a:lnTo>
                  <a:lnTo>
                    <a:pt x="54209" y="54181"/>
                  </a:lnTo>
                  <a:lnTo>
                    <a:pt x="91667" y="25254"/>
                  </a:lnTo>
                  <a:lnTo>
                    <a:pt x="135878" y="6606"/>
                  </a:lnTo>
                  <a:lnTo>
                    <a:pt x="185077" y="0"/>
                  </a:lnTo>
                  <a:lnTo>
                    <a:pt x="2169541" y="0"/>
                  </a:lnTo>
                  <a:lnTo>
                    <a:pt x="2218745" y="6606"/>
                  </a:lnTo>
                  <a:lnTo>
                    <a:pt x="2262951" y="25254"/>
                  </a:lnTo>
                  <a:lnTo>
                    <a:pt x="2300398" y="54181"/>
                  </a:lnTo>
                  <a:lnTo>
                    <a:pt x="2329325" y="91628"/>
                  </a:lnTo>
                  <a:lnTo>
                    <a:pt x="2347973" y="135834"/>
                  </a:lnTo>
                  <a:lnTo>
                    <a:pt x="2354579" y="185038"/>
                  </a:lnTo>
                  <a:lnTo>
                    <a:pt x="2354579" y="925322"/>
                  </a:lnTo>
                  <a:lnTo>
                    <a:pt x="2347973" y="974536"/>
                  </a:lnTo>
                  <a:lnTo>
                    <a:pt x="2329325" y="1018765"/>
                  </a:lnTo>
                  <a:lnTo>
                    <a:pt x="2300398" y="1056243"/>
                  </a:lnTo>
                  <a:lnTo>
                    <a:pt x="2262951" y="1085200"/>
                  </a:lnTo>
                  <a:lnTo>
                    <a:pt x="2218745" y="1103871"/>
                  </a:lnTo>
                  <a:lnTo>
                    <a:pt x="2169541" y="1110488"/>
                  </a:lnTo>
                  <a:lnTo>
                    <a:pt x="185077" y="1110488"/>
                  </a:lnTo>
                  <a:lnTo>
                    <a:pt x="135878" y="1103871"/>
                  </a:lnTo>
                  <a:lnTo>
                    <a:pt x="91667" y="1085200"/>
                  </a:lnTo>
                  <a:lnTo>
                    <a:pt x="54209" y="1056243"/>
                  </a:lnTo>
                  <a:lnTo>
                    <a:pt x="25269" y="1018765"/>
                  </a:lnTo>
                  <a:lnTo>
                    <a:pt x="6611" y="974536"/>
                  </a:lnTo>
                  <a:lnTo>
                    <a:pt x="0" y="925322"/>
                  </a:lnTo>
                  <a:lnTo>
                    <a:pt x="0" y="185038"/>
                  </a:lnTo>
                  <a:close/>
                </a:path>
              </a:pathLst>
            </a:custGeom>
            <a:ln w="952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161694" y="4024121"/>
            <a:ext cx="1869439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E40000"/>
                </a:solidFill>
                <a:latin typeface="Calibri"/>
                <a:cs typeface="Calibri"/>
              </a:rPr>
              <a:t>Does</a:t>
            </a:r>
            <a:r>
              <a:rPr sz="1400" b="1" spc="-35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E40000"/>
                </a:solidFill>
                <a:latin typeface="Calibri"/>
                <a:cs typeface="Calibri"/>
              </a:rPr>
              <a:t>it</a:t>
            </a:r>
            <a:r>
              <a:rPr sz="1400" b="1" spc="-20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E40000"/>
                </a:solidFill>
                <a:latin typeface="Calibri"/>
                <a:cs typeface="Calibri"/>
              </a:rPr>
              <a:t>Match</a:t>
            </a:r>
            <a:r>
              <a:rPr sz="1400" b="1" spc="-45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E40000"/>
                </a:solidFill>
                <a:latin typeface="Calibri"/>
                <a:cs typeface="Calibri"/>
              </a:rPr>
              <a:t>Stack</a:t>
            </a:r>
            <a:r>
              <a:rPr sz="1400" b="1" spc="-20" dirty="0">
                <a:solidFill>
                  <a:srgbClr val="E40000"/>
                </a:solidFill>
                <a:latin typeface="Calibri"/>
                <a:cs typeface="Calibri"/>
              </a:rPr>
              <a:t> Top?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E40000"/>
                </a:solidFill>
                <a:latin typeface="Calibri"/>
                <a:cs typeface="Calibri"/>
              </a:rPr>
              <a:t>→</a:t>
            </a:r>
            <a:r>
              <a:rPr sz="1400" spc="-50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E40000"/>
                </a:solidFill>
                <a:latin typeface="Calibri"/>
                <a:cs typeface="Calibri"/>
              </a:rPr>
              <a:t>YES:</a:t>
            </a:r>
            <a:r>
              <a:rPr sz="1400" b="1" spc="-30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E40000"/>
                </a:solidFill>
                <a:latin typeface="Calibri"/>
                <a:cs typeface="Calibri"/>
              </a:rPr>
              <a:t>Pop</a:t>
            </a:r>
            <a:r>
              <a:rPr sz="1400" spc="-30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E40000"/>
                </a:solidFill>
                <a:latin typeface="Calibri"/>
                <a:cs typeface="Calibri"/>
              </a:rPr>
              <a:t>from</a:t>
            </a:r>
            <a:r>
              <a:rPr sz="1400" spc="-45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E40000"/>
                </a:solidFill>
                <a:latin typeface="Calibri"/>
                <a:cs typeface="Calibri"/>
              </a:rPr>
              <a:t>Stack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E40000"/>
                </a:solidFill>
                <a:latin typeface="Calibri"/>
                <a:cs typeface="Calibri"/>
              </a:rPr>
              <a:t>→</a:t>
            </a:r>
            <a:r>
              <a:rPr sz="1400" spc="-30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E40000"/>
                </a:solidFill>
                <a:latin typeface="Calibri"/>
                <a:cs typeface="Calibri"/>
              </a:rPr>
              <a:t>NO:</a:t>
            </a:r>
            <a:r>
              <a:rPr sz="1400" b="1" spc="-20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E40000"/>
                </a:solidFill>
                <a:latin typeface="Calibri"/>
                <a:cs typeface="Calibri"/>
              </a:rPr>
              <a:t>Not</a:t>
            </a:r>
            <a:r>
              <a:rPr sz="1400" spc="-25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E40000"/>
                </a:solidFill>
                <a:latin typeface="Calibri"/>
                <a:cs typeface="Calibri"/>
              </a:rPr>
              <a:t>Balanced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210555" y="3861841"/>
            <a:ext cx="2010410" cy="657225"/>
            <a:chOff x="5210555" y="3861841"/>
            <a:chExt cx="2010410" cy="657225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0555" y="3861841"/>
              <a:ext cx="2010155" cy="65681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71515" y="4014254"/>
              <a:ext cx="1885188" cy="40077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257799" y="3886200"/>
              <a:ext cx="1920239" cy="567055"/>
            </a:xfrm>
            <a:custGeom>
              <a:avLst/>
              <a:gdLst/>
              <a:ahLst/>
              <a:cxnLst/>
              <a:rect l="l" t="t" r="r" b="b"/>
              <a:pathLst>
                <a:path w="1920240" h="567054">
                  <a:moveTo>
                    <a:pt x="1825752" y="0"/>
                  </a:moveTo>
                  <a:lnTo>
                    <a:pt x="94487" y="0"/>
                  </a:lnTo>
                  <a:lnTo>
                    <a:pt x="57703" y="7423"/>
                  </a:lnTo>
                  <a:lnTo>
                    <a:pt x="27670" y="27670"/>
                  </a:lnTo>
                  <a:lnTo>
                    <a:pt x="7423" y="57703"/>
                  </a:lnTo>
                  <a:lnTo>
                    <a:pt x="0" y="94487"/>
                  </a:lnTo>
                  <a:lnTo>
                    <a:pt x="0" y="472439"/>
                  </a:lnTo>
                  <a:lnTo>
                    <a:pt x="7423" y="509224"/>
                  </a:lnTo>
                  <a:lnTo>
                    <a:pt x="27670" y="539257"/>
                  </a:lnTo>
                  <a:lnTo>
                    <a:pt x="57703" y="559504"/>
                  </a:lnTo>
                  <a:lnTo>
                    <a:pt x="94487" y="566927"/>
                  </a:lnTo>
                  <a:lnTo>
                    <a:pt x="1825752" y="566927"/>
                  </a:lnTo>
                  <a:lnTo>
                    <a:pt x="1862536" y="559504"/>
                  </a:lnTo>
                  <a:lnTo>
                    <a:pt x="1892569" y="539257"/>
                  </a:lnTo>
                  <a:lnTo>
                    <a:pt x="1912816" y="509224"/>
                  </a:lnTo>
                  <a:lnTo>
                    <a:pt x="1920240" y="472439"/>
                  </a:lnTo>
                  <a:lnTo>
                    <a:pt x="1920240" y="94487"/>
                  </a:lnTo>
                  <a:lnTo>
                    <a:pt x="1912816" y="57703"/>
                  </a:lnTo>
                  <a:lnTo>
                    <a:pt x="1892569" y="27670"/>
                  </a:lnTo>
                  <a:lnTo>
                    <a:pt x="1862536" y="7423"/>
                  </a:lnTo>
                  <a:lnTo>
                    <a:pt x="1825752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57799" y="3886200"/>
              <a:ext cx="1920239" cy="567055"/>
            </a:xfrm>
            <a:custGeom>
              <a:avLst/>
              <a:gdLst/>
              <a:ahLst/>
              <a:cxnLst/>
              <a:rect l="l" t="t" r="r" b="b"/>
              <a:pathLst>
                <a:path w="1920240" h="567054">
                  <a:moveTo>
                    <a:pt x="0" y="94487"/>
                  </a:moveTo>
                  <a:lnTo>
                    <a:pt x="7423" y="57703"/>
                  </a:lnTo>
                  <a:lnTo>
                    <a:pt x="27670" y="27670"/>
                  </a:lnTo>
                  <a:lnTo>
                    <a:pt x="57703" y="7423"/>
                  </a:lnTo>
                  <a:lnTo>
                    <a:pt x="94487" y="0"/>
                  </a:lnTo>
                  <a:lnTo>
                    <a:pt x="1825752" y="0"/>
                  </a:lnTo>
                  <a:lnTo>
                    <a:pt x="1862536" y="7423"/>
                  </a:lnTo>
                  <a:lnTo>
                    <a:pt x="1892569" y="27670"/>
                  </a:lnTo>
                  <a:lnTo>
                    <a:pt x="1912816" y="57703"/>
                  </a:lnTo>
                  <a:lnTo>
                    <a:pt x="1920240" y="94487"/>
                  </a:lnTo>
                  <a:lnTo>
                    <a:pt x="1920240" y="472439"/>
                  </a:lnTo>
                  <a:lnTo>
                    <a:pt x="1912816" y="509224"/>
                  </a:lnTo>
                  <a:lnTo>
                    <a:pt x="1892569" y="539257"/>
                  </a:lnTo>
                  <a:lnTo>
                    <a:pt x="1862536" y="559504"/>
                  </a:lnTo>
                  <a:lnTo>
                    <a:pt x="1825752" y="566927"/>
                  </a:lnTo>
                  <a:lnTo>
                    <a:pt x="94487" y="566927"/>
                  </a:lnTo>
                  <a:lnTo>
                    <a:pt x="57703" y="559504"/>
                  </a:lnTo>
                  <a:lnTo>
                    <a:pt x="27670" y="539257"/>
                  </a:lnTo>
                  <a:lnTo>
                    <a:pt x="7423" y="509224"/>
                  </a:lnTo>
                  <a:lnTo>
                    <a:pt x="0" y="472439"/>
                  </a:lnTo>
                  <a:lnTo>
                    <a:pt x="0" y="94487"/>
                  </a:lnTo>
                  <a:close/>
                </a:path>
              </a:pathLst>
            </a:custGeom>
            <a:ln w="952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394452" y="4057269"/>
            <a:ext cx="1647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E40000"/>
                </a:solidFill>
                <a:latin typeface="Calibri"/>
                <a:cs typeface="Calibri"/>
              </a:rPr>
              <a:t>Are</a:t>
            </a:r>
            <a:r>
              <a:rPr sz="1200" b="1" spc="-40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40000"/>
                </a:solidFill>
                <a:latin typeface="Calibri"/>
                <a:cs typeface="Calibri"/>
              </a:rPr>
              <a:t>All</a:t>
            </a:r>
            <a:r>
              <a:rPr sz="1200" b="1" spc="-25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40000"/>
                </a:solidFill>
                <a:latin typeface="Calibri"/>
                <a:cs typeface="Calibri"/>
              </a:rPr>
              <a:t>Symbols</a:t>
            </a:r>
            <a:r>
              <a:rPr sz="1200" b="1" spc="-35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40000"/>
                </a:solidFill>
                <a:latin typeface="Calibri"/>
                <a:cs typeface="Calibri"/>
              </a:rPr>
              <a:t>Checked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381755" y="5141976"/>
            <a:ext cx="2010410" cy="657225"/>
            <a:chOff x="3381755" y="5141976"/>
            <a:chExt cx="2010410" cy="657225"/>
          </a:xfrm>
        </p:grpSpPr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1755" y="5141976"/>
              <a:ext cx="2010155" cy="656818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428999" y="5166360"/>
              <a:ext cx="1920239" cy="567055"/>
            </a:xfrm>
            <a:custGeom>
              <a:avLst/>
              <a:gdLst/>
              <a:ahLst/>
              <a:cxnLst/>
              <a:rect l="l" t="t" r="r" b="b"/>
              <a:pathLst>
                <a:path w="1920239" h="567054">
                  <a:moveTo>
                    <a:pt x="1825752" y="0"/>
                  </a:moveTo>
                  <a:lnTo>
                    <a:pt x="94487" y="0"/>
                  </a:lnTo>
                  <a:lnTo>
                    <a:pt x="57703" y="7423"/>
                  </a:lnTo>
                  <a:lnTo>
                    <a:pt x="27670" y="27670"/>
                  </a:lnTo>
                  <a:lnTo>
                    <a:pt x="7423" y="57703"/>
                  </a:lnTo>
                  <a:lnTo>
                    <a:pt x="0" y="94487"/>
                  </a:lnTo>
                  <a:lnTo>
                    <a:pt x="0" y="472439"/>
                  </a:lnTo>
                  <a:lnTo>
                    <a:pt x="7423" y="509219"/>
                  </a:lnTo>
                  <a:lnTo>
                    <a:pt x="27670" y="539253"/>
                  </a:lnTo>
                  <a:lnTo>
                    <a:pt x="57703" y="559502"/>
                  </a:lnTo>
                  <a:lnTo>
                    <a:pt x="94487" y="566927"/>
                  </a:lnTo>
                  <a:lnTo>
                    <a:pt x="1825752" y="566927"/>
                  </a:lnTo>
                  <a:lnTo>
                    <a:pt x="1862536" y="559502"/>
                  </a:lnTo>
                  <a:lnTo>
                    <a:pt x="1892569" y="539253"/>
                  </a:lnTo>
                  <a:lnTo>
                    <a:pt x="1912816" y="509219"/>
                  </a:lnTo>
                  <a:lnTo>
                    <a:pt x="1920239" y="472439"/>
                  </a:lnTo>
                  <a:lnTo>
                    <a:pt x="1920239" y="94487"/>
                  </a:lnTo>
                  <a:lnTo>
                    <a:pt x="1912816" y="57703"/>
                  </a:lnTo>
                  <a:lnTo>
                    <a:pt x="1892569" y="27670"/>
                  </a:lnTo>
                  <a:lnTo>
                    <a:pt x="1862536" y="7423"/>
                  </a:lnTo>
                  <a:lnTo>
                    <a:pt x="1825752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28999" y="5166360"/>
              <a:ext cx="1920239" cy="567055"/>
            </a:xfrm>
            <a:custGeom>
              <a:avLst/>
              <a:gdLst/>
              <a:ahLst/>
              <a:cxnLst/>
              <a:rect l="l" t="t" r="r" b="b"/>
              <a:pathLst>
                <a:path w="1920239" h="567054">
                  <a:moveTo>
                    <a:pt x="0" y="94487"/>
                  </a:moveTo>
                  <a:lnTo>
                    <a:pt x="7423" y="57703"/>
                  </a:lnTo>
                  <a:lnTo>
                    <a:pt x="27670" y="27670"/>
                  </a:lnTo>
                  <a:lnTo>
                    <a:pt x="57703" y="7423"/>
                  </a:lnTo>
                  <a:lnTo>
                    <a:pt x="94487" y="0"/>
                  </a:lnTo>
                  <a:lnTo>
                    <a:pt x="1825752" y="0"/>
                  </a:lnTo>
                  <a:lnTo>
                    <a:pt x="1862536" y="7423"/>
                  </a:lnTo>
                  <a:lnTo>
                    <a:pt x="1892569" y="27670"/>
                  </a:lnTo>
                  <a:lnTo>
                    <a:pt x="1912816" y="57703"/>
                  </a:lnTo>
                  <a:lnTo>
                    <a:pt x="1920239" y="94487"/>
                  </a:lnTo>
                  <a:lnTo>
                    <a:pt x="1920239" y="472439"/>
                  </a:lnTo>
                  <a:lnTo>
                    <a:pt x="1912816" y="509219"/>
                  </a:lnTo>
                  <a:lnTo>
                    <a:pt x="1892569" y="539253"/>
                  </a:lnTo>
                  <a:lnTo>
                    <a:pt x="1862536" y="559502"/>
                  </a:lnTo>
                  <a:lnTo>
                    <a:pt x="1825752" y="566927"/>
                  </a:lnTo>
                  <a:lnTo>
                    <a:pt x="94487" y="566927"/>
                  </a:lnTo>
                  <a:lnTo>
                    <a:pt x="57703" y="559502"/>
                  </a:lnTo>
                  <a:lnTo>
                    <a:pt x="27670" y="539253"/>
                  </a:lnTo>
                  <a:lnTo>
                    <a:pt x="7423" y="509219"/>
                  </a:lnTo>
                  <a:lnTo>
                    <a:pt x="0" y="472439"/>
                  </a:lnTo>
                  <a:lnTo>
                    <a:pt x="0" y="94487"/>
                  </a:lnTo>
                  <a:close/>
                </a:path>
              </a:pathLst>
            </a:custGeom>
            <a:ln w="952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858005" y="5319522"/>
            <a:ext cx="10623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E40000"/>
                </a:solidFill>
                <a:latin typeface="Calibri"/>
                <a:cs typeface="Calibri"/>
              </a:rPr>
              <a:t>Display</a:t>
            </a:r>
            <a:r>
              <a:rPr sz="1400" b="1" spc="-60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E40000"/>
                </a:solidFill>
                <a:latin typeface="Calibri"/>
                <a:cs typeface="Calibri"/>
              </a:rPr>
              <a:t>Result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791967" y="1574291"/>
            <a:ext cx="5316220" cy="4250690"/>
            <a:chOff x="2791967" y="1574291"/>
            <a:chExt cx="5316220" cy="4250690"/>
          </a:xfrm>
        </p:grpSpPr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91967" y="1574291"/>
              <a:ext cx="687349" cy="10515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834639" y="1609343"/>
              <a:ext cx="594360" cy="0"/>
            </a:xfrm>
            <a:custGeom>
              <a:avLst/>
              <a:gdLst/>
              <a:ahLst/>
              <a:cxnLst/>
              <a:rect l="l" t="t" r="r" b="b"/>
              <a:pathLst>
                <a:path w="594360">
                  <a:moveTo>
                    <a:pt x="0" y="0"/>
                  </a:moveTo>
                  <a:lnTo>
                    <a:pt x="594360" y="0"/>
                  </a:lnTo>
                </a:path>
              </a:pathLst>
            </a:custGeom>
            <a:ln w="25400">
              <a:solidFill>
                <a:srgbClr val="8FB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06567" y="1574291"/>
              <a:ext cx="687349" cy="105155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349239" y="1609343"/>
              <a:ext cx="594360" cy="0"/>
            </a:xfrm>
            <a:custGeom>
              <a:avLst/>
              <a:gdLst/>
              <a:ahLst/>
              <a:cxnLst/>
              <a:rect l="l" t="t" r="r" b="b"/>
              <a:pathLst>
                <a:path w="594360">
                  <a:moveTo>
                    <a:pt x="0" y="0"/>
                  </a:moveTo>
                  <a:lnTo>
                    <a:pt x="594360" y="0"/>
                  </a:lnTo>
                </a:path>
              </a:pathLst>
            </a:custGeom>
            <a:ln w="25400">
              <a:solidFill>
                <a:srgbClr val="8FB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63055" y="1860791"/>
              <a:ext cx="787920" cy="81535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217920" y="1892807"/>
              <a:ext cx="685800" cy="713740"/>
            </a:xfrm>
            <a:custGeom>
              <a:avLst/>
              <a:gdLst/>
              <a:ahLst/>
              <a:cxnLst/>
              <a:rect l="l" t="t" r="r" b="b"/>
              <a:pathLst>
                <a:path w="685800" h="713739">
                  <a:moveTo>
                    <a:pt x="685800" y="0"/>
                  </a:moveTo>
                  <a:lnTo>
                    <a:pt x="0" y="713231"/>
                  </a:lnTo>
                </a:path>
              </a:pathLst>
            </a:custGeom>
            <a:ln w="25400">
              <a:solidFill>
                <a:srgbClr val="8FB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28415" y="2854452"/>
              <a:ext cx="1967484" cy="105155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3383279" y="2889503"/>
              <a:ext cx="1874520" cy="0"/>
            </a:xfrm>
            <a:custGeom>
              <a:avLst/>
              <a:gdLst/>
              <a:ahLst/>
              <a:cxnLst/>
              <a:rect l="l" t="t" r="r" b="b"/>
              <a:pathLst>
                <a:path w="1874520">
                  <a:moveTo>
                    <a:pt x="1874520" y="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8FB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28415" y="3150095"/>
              <a:ext cx="105155" cy="806208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383279" y="3172967"/>
              <a:ext cx="0" cy="713740"/>
            </a:xfrm>
            <a:custGeom>
              <a:avLst/>
              <a:gdLst/>
              <a:ahLst/>
              <a:cxnLst/>
              <a:rect l="l" t="t" r="r" b="b"/>
              <a:pathLst>
                <a:path h="713739">
                  <a:moveTo>
                    <a:pt x="0" y="0"/>
                  </a:moveTo>
                  <a:lnTo>
                    <a:pt x="0" y="713232"/>
                  </a:lnTo>
                </a:path>
              </a:pathLst>
            </a:custGeom>
            <a:ln w="25400">
              <a:solidFill>
                <a:srgbClr val="8FB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40607" y="4134612"/>
              <a:ext cx="1967484" cy="105156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383279" y="4169663"/>
              <a:ext cx="1874520" cy="0"/>
            </a:xfrm>
            <a:custGeom>
              <a:avLst/>
              <a:gdLst/>
              <a:ahLst/>
              <a:cxnLst/>
              <a:rect l="l" t="t" r="r" b="b"/>
              <a:pathLst>
                <a:path w="1874520">
                  <a:moveTo>
                    <a:pt x="0" y="0"/>
                  </a:moveTo>
                  <a:lnTo>
                    <a:pt x="1874520" y="0"/>
                  </a:lnTo>
                </a:path>
              </a:pathLst>
            </a:custGeom>
            <a:ln w="25400">
              <a:solidFill>
                <a:srgbClr val="8FB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17135" y="4418075"/>
              <a:ext cx="1743456" cy="818388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4572000" y="4453127"/>
              <a:ext cx="1645920" cy="713740"/>
            </a:xfrm>
            <a:custGeom>
              <a:avLst/>
              <a:gdLst/>
              <a:ahLst/>
              <a:cxnLst/>
              <a:rect l="l" t="t" r="r" b="b"/>
              <a:pathLst>
                <a:path w="1645920" h="713739">
                  <a:moveTo>
                    <a:pt x="1645920" y="0"/>
                  </a:moveTo>
                  <a:lnTo>
                    <a:pt x="0" y="713232"/>
                  </a:lnTo>
                </a:path>
              </a:pathLst>
            </a:custGeom>
            <a:ln w="25400">
              <a:solidFill>
                <a:srgbClr val="8FB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97523" y="5167883"/>
              <a:ext cx="2010155" cy="656818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144767" y="5191887"/>
              <a:ext cx="1920239" cy="567055"/>
            </a:xfrm>
            <a:custGeom>
              <a:avLst/>
              <a:gdLst/>
              <a:ahLst/>
              <a:cxnLst/>
              <a:rect l="l" t="t" r="r" b="b"/>
              <a:pathLst>
                <a:path w="1920240" h="567054">
                  <a:moveTo>
                    <a:pt x="1825752" y="0"/>
                  </a:moveTo>
                  <a:lnTo>
                    <a:pt x="94487" y="0"/>
                  </a:lnTo>
                  <a:lnTo>
                    <a:pt x="57703" y="7423"/>
                  </a:lnTo>
                  <a:lnTo>
                    <a:pt x="27670" y="27670"/>
                  </a:lnTo>
                  <a:lnTo>
                    <a:pt x="7423" y="57703"/>
                  </a:lnTo>
                  <a:lnTo>
                    <a:pt x="0" y="94487"/>
                  </a:lnTo>
                  <a:lnTo>
                    <a:pt x="0" y="472440"/>
                  </a:lnTo>
                  <a:lnTo>
                    <a:pt x="7423" y="509219"/>
                  </a:lnTo>
                  <a:lnTo>
                    <a:pt x="27670" y="539253"/>
                  </a:lnTo>
                  <a:lnTo>
                    <a:pt x="57703" y="559502"/>
                  </a:lnTo>
                  <a:lnTo>
                    <a:pt x="94487" y="566928"/>
                  </a:lnTo>
                  <a:lnTo>
                    <a:pt x="1825752" y="566928"/>
                  </a:lnTo>
                  <a:lnTo>
                    <a:pt x="1862536" y="559502"/>
                  </a:lnTo>
                  <a:lnTo>
                    <a:pt x="1892569" y="539253"/>
                  </a:lnTo>
                  <a:lnTo>
                    <a:pt x="1912816" y="509219"/>
                  </a:lnTo>
                  <a:lnTo>
                    <a:pt x="1920239" y="472440"/>
                  </a:lnTo>
                  <a:lnTo>
                    <a:pt x="1920239" y="94487"/>
                  </a:lnTo>
                  <a:lnTo>
                    <a:pt x="1912816" y="57703"/>
                  </a:lnTo>
                  <a:lnTo>
                    <a:pt x="1892569" y="27670"/>
                  </a:lnTo>
                  <a:lnTo>
                    <a:pt x="1862536" y="7423"/>
                  </a:lnTo>
                  <a:lnTo>
                    <a:pt x="1825752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144767" y="5191887"/>
              <a:ext cx="1920239" cy="567055"/>
            </a:xfrm>
            <a:custGeom>
              <a:avLst/>
              <a:gdLst/>
              <a:ahLst/>
              <a:cxnLst/>
              <a:rect l="l" t="t" r="r" b="b"/>
              <a:pathLst>
                <a:path w="1920240" h="567054">
                  <a:moveTo>
                    <a:pt x="0" y="94487"/>
                  </a:moveTo>
                  <a:lnTo>
                    <a:pt x="7423" y="57703"/>
                  </a:lnTo>
                  <a:lnTo>
                    <a:pt x="27670" y="27670"/>
                  </a:lnTo>
                  <a:lnTo>
                    <a:pt x="57703" y="7423"/>
                  </a:lnTo>
                  <a:lnTo>
                    <a:pt x="94487" y="0"/>
                  </a:lnTo>
                  <a:lnTo>
                    <a:pt x="1825752" y="0"/>
                  </a:lnTo>
                  <a:lnTo>
                    <a:pt x="1862536" y="7423"/>
                  </a:lnTo>
                  <a:lnTo>
                    <a:pt x="1892569" y="27670"/>
                  </a:lnTo>
                  <a:lnTo>
                    <a:pt x="1912816" y="57703"/>
                  </a:lnTo>
                  <a:lnTo>
                    <a:pt x="1920239" y="94487"/>
                  </a:lnTo>
                  <a:lnTo>
                    <a:pt x="1920239" y="472440"/>
                  </a:lnTo>
                  <a:lnTo>
                    <a:pt x="1912816" y="509219"/>
                  </a:lnTo>
                  <a:lnTo>
                    <a:pt x="1892569" y="539253"/>
                  </a:lnTo>
                  <a:lnTo>
                    <a:pt x="1862536" y="559502"/>
                  </a:lnTo>
                  <a:lnTo>
                    <a:pt x="1825752" y="566928"/>
                  </a:lnTo>
                  <a:lnTo>
                    <a:pt x="94487" y="566928"/>
                  </a:lnTo>
                  <a:lnTo>
                    <a:pt x="57703" y="559502"/>
                  </a:lnTo>
                  <a:lnTo>
                    <a:pt x="27670" y="539253"/>
                  </a:lnTo>
                  <a:lnTo>
                    <a:pt x="7423" y="509219"/>
                  </a:lnTo>
                  <a:lnTo>
                    <a:pt x="0" y="472440"/>
                  </a:lnTo>
                  <a:lnTo>
                    <a:pt x="0" y="94487"/>
                  </a:lnTo>
                  <a:close/>
                </a:path>
              </a:pathLst>
            </a:custGeom>
            <a:ln w="952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6574281" y="5344795"/>
            <a:ext cx="10623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E40000"/>
                </a:solidFill>
                <a:latin typeface="Calibri"/>
                <a:cs typeface="Calibri"/>
              </a:rPr>
              <a:t>Display</a:t>
            </a:r>
            <a:r>
              <a:rPr sz="1400" b="1" spc="-60" dirty="0">
                <a:solidFill>
                  <a:srgbClr val="E400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E40000"/>
                </a:solidFill>
                <a:latin typeface="Calibri"/>
                <a:cs typeface="Calibri"/>
              </a:rPr>
              <a:t>Result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5" name="object 6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202173" y="5122074"/>
            <a:ext cx="1065085" cy="771486"/>
          </a:xfrm>
          <a:prstGeom prst="rect">
            <a:avLst/>
          </a:prstGeom>
        </p:spPr>
      </p:pic>
      <p:sp>
        <p:nvSpPr>
          <p:cNvPr id="66" name="object 6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S.</a:t>
            </a:r>
            <a:r>
              <a:rPr spc="-25" dirty="0"/>
              <a:t> </a:t>
            </a:r>
            <a:r>
              <a:rPr dirty="0"/>
              <a:t>B.</a:t>
            </a:r>
            <a:r>
              <a:rPr spc="-10" dirty="0"/>
              <a:t> </a:t>
            </a:r>
            <a:r>
              <a:rPr dirty="0"/>
              <a:t>Jain</a:t>
            </a:r>
            <a:r>
              <a:rPr spc="-25" dirty="0"/>
              <a:t> </a:t>
            </a:r>
            <a:r>
              <a:rPr dirty="0"/>
              <a:t>Institute</a:t>
            </a:r>
            <a:r>
              <a:rPr spc="-1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Technology</a:t>
            </a:r>
            <a:r>
              <a:rPr spc="-20" dirty="0"/>
              <a:t> </a:t>
            </a:r>
            <a:r>
              <a:rPr dirty="0"/>
              <a:t>Management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Research,</a:t>
            </a:r>
            <a:r>
              <a:rPr spc="-5" dirty="0"/>
              <a:t> </a:t>
            </a:r>
            <a:r>
              <a:rPr spc="-10" dirty="0"/>
              <a:t>Nagpur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Phase 1 - </a:t>
            </a:r>
            <a:r>
              <a:rPr spc="-10" dirty="0"/>
              <a:t>Understanding</a:t>
            </a:r>
            <a:r>
              <a:rPr spc="-6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Python</a:t>
            </a:r>
            <a:r>
              <a:rPr spc="-65" dirty="0"/>
              <a:t> </a:t>
            </a:r>
            <a:r>
              <a:rPr spc="-10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973" y="5828487"/>
            <a:ext cx="57473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00FF"/>
                </a:solidFill>
                <a:latin typeface="Calibri"/>
                <a:cs typeface="Calibri"/>
              </a:rPr>
              <a:t>Python</a:t>
            </a:r>
            <a:r>
              <a:rPr sz="14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00FF"/>
                </a:solidFill>
                <a:latin typeface="Calibri"/>
                <a:cs typeface="Calibri"/>
              </a:rPr>
              <a:t>concepts:</a:t>
            </a:r>
            <a:r>
              <a:rPr sz="14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00FF"/>
                </a:solidFill>
                <a:latin typeface="Calibri"/>
                <a:cs typeface="Calibri"/>
              </a:rPr>
              <a:t>dictionary</a:t>
            </a:r>
            <a:r>
              <a:rPr sz="14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00FF"/>
                </a:solidFill>
                <a:latin typeface="Calibri"/>
                <a:cs typeface="Calibri"/>
              </a:rPr>
              <a:t>•</a:t>
            </a:r>
            <a:r>
              <a:rPr sz="14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00FF"/>
                </a:solidFill>
                <a:latin typeface="Calibri"/>
                <a:cs typeface="Calibri"/>
              </a:rPr>
              <a:t>set</a:t>
            </a:r>
            <a:r>
              <a:rPr sz="14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00FF"/>
                </a:solidFill>
                <a:latin typeface="Calibri"/>
                <a:cs typeface="Calibri"/>
              </a:rPr>
              <a:t>•</a:t>
            </a:r>
            <a:r>
              <a:rPr sz="1400" b="1" spc="-10" dirty="0">
                <a:solidFill>
                  <a:srgbClr val="0000FF"/>
                </a:solidFill>
                <a:latin typeface="Calibri"/>
                <a:cs typeface="Calibri"/>
              </a:rPr>
              <a:t> intersection</a:t>
            </a:r>
            <a:r>
              <a:rPr sz="14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00FF"/>
                </a:solidFill>
                <a:latin typeface="Calibri"/>
                <a:cs typeface="Calibri"/>
              </a:rPr>
              <a:t>•</a:t>
            </a:r>
            <a:r>
              <a:rPr sz="14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00FF"/>
                </a:solidFill>
                <a:latin typeface="Calibri"/>
                <a:cs typeface="Calibri"/>
              </a:rPr>
              <a:t>loops</a:t>
            </a:r>
            <a:r>
              <a:rPr sz="14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00FF"/>
                </a:solidFill>
                <a:latin typeface="Calibri"/>
                <a:cs typeface="Calibri"/>
              </a:rPr>
              <a:t>•</a:t>
            </a:r>
            <a:r>
              <a:rPr sz="14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00FF"/>
                </a:solidFill>
                <a:latin typeface="Calibri"/>
                <a:cs typeface="Calibri"/>
              </a:rPr>
              <a:t>sorting</a:t>
            </a:r>
            <a:r>
              <a:rPr sz="1400" b="1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00FF"/>
                </a:solidFill>
                <a:latin typeface="Calibri"/>
                <a:cs typeface="Calibri"/>
              </a:rPr>
              <a:t>•</a:t>
            </a:r>
            <a:r>
              <a:rPr sz="14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00FF"/>
                </a:solidFill>
                <a:latin typeface="Calibri"/>
                <a:cs typeface="Calibri"/>
              </a:rPr>
              <a:t>deque/BFS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1281049"/>
            <a:ext cx="7708392" cy="398500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S.</a:t>
            </a:r>
            <a:r>
              <a:rPr spc="-25" dirty="0"/>
              <a:t> </a:t>
            </a:r>
            <a:r>
              <a:rPr dirty="0"/>
              <a:t>B.</a:t>
            </a:r>
            <a:r>
              <a:rPr spc="-10" dirty="0"/>
              <a:t> </a:t>
            </a:r>
            <a:r>
              <a:rPr dirty="0"/>
              <a:t>Jain</a:t>
            </a:r>
            <a:r>
              <a:rPr spc="-25" dirty="0"/>
              <a:t> </a:t>
            </a:r>
            <a:r>
              <a:rPr dirty="0"/>
              <a:t>Institute</a:t>
            </a:r>
            <a:r>
              <a:rPr spc="-1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Technology</a:t>
            </a:r>
            <a:r>
              <a:rPr spc="-20" dirty="0"/>
              <a:t> </a:t>
            </a:r>
            <a:r>
              <a:rPr dirty="0"/>
              <a:t>Management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Research,</a:t>
            </a:r>
            <a:r>
              <a:rPr spc="-5" dirty="0"/>
              <a:t> </a:t>
            </a:r>
            <a:r>
              <a:rPr spc="-10" dirty="0"/>
              <a:t>Nagpur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Phase 1 - </a:t>
            </a:r>
            <a:r>
              <a:rPr dirty="0"/>
              <a:t>Graph</a:t>
            </a:r>
            <a:r>
              <a:rPr spc="-55" dirty="0"/>
              <a:t> </a:t>
            </a:r>
            <a:r>
              <a:rPr spc="-20" dirty="0"/>
              <a:t>Representation</a:t>
            </a:r>
            <a:r>
              <a:rPr spc="-7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Working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5688" y="3793235"/>
            <a:ext cx="584454" cy="4792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81659" y="1097026"/>
            <a:ext cx="312801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Expression: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{[()]}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Stack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Working:</a:t>
            </a:r>
            <a:endParaRPr sz="1800">
              <a:latin typeface="Calibri"/>
              <a:cs typeface="Calibri"/>
            </a:endParaRPr>
          </a:p>
          <a:p>
            <a:pPr marL="12700" marR="2153285" algn="just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{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Push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 </a:t>
            </a:r>
            <a:r>
              <a:rPr sz="1800" dirty="0">
                <a:latin typeface="Calibri"/>
                <a:cs typeface="Calibri"/>
              </a:rPr>
              <a:t>[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Push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[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Push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(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)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Match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Pop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]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Match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[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Pop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}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Match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{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Pop</a:t>
            </a:r>
            <a:endParaRPr sz="1800">
              <a:latin typeface="Calibri"/>
              <a:cs typeface="Calibri"/>
            </a:endParaRPr>
          </a:p>
          <a:p>
            <a:pPr marL="12700" marR="139192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Final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Stack: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Empty </a:t>
            </a:r>
            <a:r>
              <a:rPr sz="1800" b="1" dirty="0">
                <a:latin typeface="Calibri"/>
                <a:cs typeface="Calibri"/>
              </a:rPr>
              <a:t>Result: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Balanced </a:t>
            </a:r>
            <a:r>
              <a:rPr sz="1800" b="1" dirty="0">
                <a:latin typeface="Calibri"/>
                <a:cs typeface="Calibri"/>
              </a:rPr>
              <a:t>Key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Concepts: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buChar char="•"/>
              <a:tabLst>
                <a:tab pos="177800" algn="l"/>
              </a:tabLst>
            </a:pPr>
            <a:r>
              <a:rPr sz="1800" dirty="0">
                <a:latin typeface="Calibri"/>
                <a:cs typeface="Calibri"/>
              </a:rPr>
              <a:t>Opening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symbol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Push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buChar char="•"/>
              <a:tabLst>
                <a:tab pos="177800" algn="l"/>
              </a:tabLst>
            </a:pPr>
            <a:r>
              <a:rPr sz="1800" dirty="0">
                <a:latin typeface="Calibri"/>
                <a:cs typeface="Calibri"/>
              </a:rPr>
              <a:t>Closing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symbol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Match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+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Pop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buChar char="•"/>
              <a:tabLst>
                <a:tab pos="177800" algn="l"/>
              </a:tabLst>
            </a:pPr>
            <a:r>
              <a:rPr sz="1800" dirty="0">
                <a:latin typeface="Calibri"/>
                <a:cs typeface="Calibri"/>
              </a:rPr>
              <a:t>Wrong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match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Not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Balanced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spcBef>
                <a:spcPts val="5"/>
              </a:spcBef>
              <a:buChar char="•"/>
              <a:tabLst>
                <a:tab pos="177800" algn="l"/>
              </a:tabLst>
            </a:pPr>
            <a:r>
              <a:rPr sz="1800" dirty="0">
                <a:latin typeface="Calibri"/>
                <a:cs typeface="Calibri"/>
              </a:rPr>
              <a:t>Empty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stack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Balanced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S.</a:t>
            </a:r>
            <a:r>
              <a:rPr spc="-25" dirty="0"/>
              <a:t> </a:t>
            </a:r>
            <a:r>
              <a:rPr dirty="0"/>
              <a:t>B.</a:t>
            </a:r>
            <a:r>
              <a:rPr spc="-10" dirty="0"/>
              <a:t> </a:t>
            </a:r>
            <a:r>
              <a:rPr dirty="0"/>
              <a:t>Jain</a:t>
            </a:r>
            <a:r>
              <a:rPr spc="-25" dirty="0"/>
              <a:t> </a:t>
            </a:r>
            <a:r>
              <a:rPr dirty="0"/>
              <a:t>Institute</a:t>
            </a:r>
            <a:r>
              <a:rPr spc="-1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Technology</a:t>
            </a:r>
            <a:r>
              <a:rPr spc="-20" dirty="0"/>
              <a:t> </a:t>
            </a:r>
            <a:r>
              <a:rPr dirty="0"/>
              <a:t>Management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Research,</a:t>
            </a:r>
            <a:r>
              <a:rPr spc="-5" dirty="0"/>
              <a:t> </a:t>
            </a:r>
            <a:r>
              <a:rPr spc="-10" dirty="0"/>
              <a:t>Nagpur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1659" y="392938"/>
            <a:ext cx="711835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spc="-40" dirty="0"/>
              <a:t>Phase 1 - </a:t>
            </a:r>
            <a:r>
              <a:rPr sz="2400" spc="-40" dirty="0"/>
              <a:t> </a:t>
            </a:r>
            <a:r>
              <a:rPr sz="2400" dirty="0"/>
              <a:t>GitHub</a:t>
            </a:r>
            <a:r>
              <a:rPr sz="2400" spc="-75" dirty="0"/>
              <a:t> </a:t>
            </a:r>
            <a:r>
              <a:rPr sz="2400" dirty="0"/>
              <a:t>Account,</a:t>
            </a:r>
            <a:r>
              <a:rPr sz="2400" spc="-75" dirty="0"/>
              <a:t> </a:t>
            </a:r>
            <a:r>
              <a:rPr sz="2400" dirty="0"/>
              <a:t>Repository</a:t>
            </a:r>
            <a:r>
              <a:rPr sz="2400" spc="-55" dirty="0"/>
              <a:t> </a:t>
            </a:r>
            <a:r>
              <a:rPr sz="2400" dirty="0"/>
              <a:t>&amp;</a:t>
            </a:r>
            <a:r>
              <a:rPr sz="2400" spc="-50" dirty="0"/>
              <a:t> </a:t>
            </a:r>
            <a:r>
              <a:rPr sz="2400" spc="-10" dirty="0"/>
              <a:t>Collaboration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84276" y="4319003"/>
            <a:ext cx="7771130" cy="1781810"/>
            <a:chOff x="684276" y="4319003"/>
            <a:chExt cx="7771130" cy="17818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276" y="4319003"/>
              <a:ext cx="7770876" cy="17815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1520" y="4343400"/>
              <a:ext cx="7680959" cy="1691639"/>
            </a:xfrm>
            <a:custGeom>
              <a:avLst/>
              <a:gdLst/>
              <a:ahLst/>
              <a:cxnLst/>
              <a:rect l="l" t="t" r="r" b="b"/>
              <a:pathLst>
                <a:path w="7680959" h="1691639">
                  <a:moveTo>
                    <a:pt x="7399020" y="0"/>
                  </a:moveTo>
                  <a:lnTo>
                    <a:pt x="281939" y="0"/>
                  </a:lnTo>
                  <a:lnTo>
                    <a:pt x="236207" y="3690"/>
                  </a:lnTo>
                  <a:lnTo>
                    <a:pt x="192823" y="14374"/>
                  </a:lnTo>
                  <a:lnTo>
                    <a:pt x="152370" y="31471"/>
                  </a:lnTo>
                  <a:lnTo>
                    <a:pt x="115428" y="54400"/>
                  </a:lnTo>
                  <a:lnTo>
                    <a:pt x="82576" y="82581"/>
                  </a:lnTo>
                  <a:lnTo>
                    <a:pt x="54397" y="115433"/>
                  </a:lnTo>
                  <a:lnTo>
                    <a:pt x="31468" y="152376"/>
                  </a:lnTo>
                  <a:lnTo>
                    <a:pt x="14373" y="192828"/>
                  </a:lnTo>
                  <a:lnTo>
                    <a:pt x="3690" y="236210"/>
                  </a:lnTo>
                  <a:lnTo>
                    <a:pt x="0" y="281939"/>
                  </a:lnTo>
                  <a:lnTo>
                    <a:pt x="0" y="1409687"/>
                  </a:lnTo>
                  <a:lnTo>
                    <a:pt x="3690" y="1455420"/>
                  </a:lnTo>
                  <a:lnTo>
                    <a:pt x="14373" y="1498804"/>
                  </a:lnTo>
                  <a:lnTo>
                    <a:pt x="31468" y="1539259"/>
                  </a:lnTo>
                  <a:lnTo>
                    <a:pt x="54397" y="1576203"/>
                  </a:lnTo>
                  <a:lnTo>
                    <a:pt x="82576" y="1609056"/>
                  </a:lnTo>
                  <a:lnTo>
                    <a:pt x="115428" y="1637238"/>
                  </a:lnTo>
                  <a:lnTo>
                    <a:pt x="152370" y="1660168"/>
                  </a:lnTo>
                  <a:lnTo>
                    <a:pt x="192823" y="1677265"/>
                  </a:lnTo>
                  <a:lnTo>
                    <a:pt x="236207" y="1687949"/>
                  </a:lnTo>
                  <a:lnTo>
                    <a:pt x="281939" y="1691639"/>
                  </a:lnTo>
                  <a:lnTo>
                    <a:pt x="7399020" y="1691639"/>
                  </a:lnTo>
                  <a:lnTo>
                    <a:pt x="7444749" y="1687949"/>
                  </a:lnTo>
                  <a:lnTo>
                    <a:pt x="7488131" y="1677265"/>
                  </a:lnTo>
                  <a:lnTo>
                    <a:pt x="7528583" y="1660168"/>
                  </a:lnTo>
                  <a:lnTo>
                    <a:pt x="7565526" y="1637238"/>
                  </a:lnTo>
                  <a:lnTo>
                    <a:pt x="7598378" y="1609056"/>
                  </a:lnTo>
                  <a:lnTo>
                    <a:pt x="7626559" y="1576203"/>
                  </a:lnTo>
                  <a:lnTo>
                    <a:pt x="7649488" y="1539259"/>
                  </a:lnTo>
                  <a:lnTo>
                    <a:pt x="7666585" y="1498804"/>
                  </a:lnTo>
                  <a:lnTo>
                    <a:pt x="7677269" y="1455420"/>
                  </a:lnTo>
                  <a:lnTo>
                    <a:pt x="7680959" y="1409687"/>
                  </a:lnTo>
                  <a:lnTo>
                    <a:pt x="7680959" y="281939"/>
                  </a:lnTo>
                  <a:lnTo>
                    <a:pt x="7677269" y="236210"/>
                  </a:lnTo>
                  <a:lnTo>
                    <a:pt x="7666585" y="192828"/>
                  </a:lnTo>
                  <a:lnTo>
                    <a:pt x="7649488" y="152376"/>
                  </a:lnTo>
                  <a:lnTo>
                    <a:pt x="7626559" y="115433"/>
                  </a:lnTo>
                  <a:lnTo>
                    <a:pt x="7598378" y="82581"/>
                  </a:lnTo>
                  <a:lnTo>
                    <a:pt x="7565526" y="54400"/>
                  </a:lnTo>
                  <a:lnTo>
                    <a:pt x="7528583" y="31471"/>
                  </a:lnTo>
                  <a:lnTo>
                    <a:pt x="7488131" y="14374"/>
                  </a:lnTo>
                  <a:lnTo>
                    <a:pt x="7444749" y="3690"/>
                  </a:lnTo>
                  <a:lnTo>
                    <a:pt x="7399020" y="0"/>
                  </a:lnTo>
                  <a:close/>
                </a:path>
              </a:pathLst>
            </a:custGeom>
            <a:solidFill>
              <a:srgbClr val="222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1520" y="4343400"/>
              <a:ext cx="7680959" cy="1691639"/>
            </a:xfrm>
            <a:custGeom>
              <a:avLst/>
              <a:gdLst/>
              <a:ahLst/>
              <a:cxnLst/>
              <a:rect l="l" t="t" r="r" b="b"/>
              <a:pathLst>
                <a:path w="7680959" h="1691639">
                  <a:moveTo>
                    <a:pt x="0" y="281939"/>
                  </a:moveTo>
                  <a:lnTo>
                    <a:pt x="3690" y="236210"/>
                  </a:lnTo>
                  <a:lnTo>
                    <a:pt x="14373" y="192828"/>
                  </a:lnTo>
                  <a:lnTo>
                    <a:pt x="31468" y="152376"/>
                  </a:lnTo>
                  <a:lnTo>
                    <a:pt x="54397" y="115433"/>
                  </a:lnTo>
                  <a:lnTo>
                    <a:pt x="82576" y="82581"/>
                  </a:lnTo>
                  <a:lnTo>
                    <a:pt x="115428" y="54400"/>
                  </a:lnTo>
                  <a:lnTo>
                    <a:pt x="152370" y="31471"/>
                  </a:lnTo>
                  <a:lnTo>
                    <a:pt x="192823" y="14374"/>
                  </a:lnTo>
                  <a:lnTo>
                    <a:pt x="236207" y="3690"/>
                  </a:lnTo>
                  <a:lnTo>
                    <a:pt x="281939" y="0"/>
                  </a:lnTo>
                  <a:lnTo>
                    <a:pt x="7399020" y="0"/>
                  </a:lnTo>
                  <a:lnTo>
                    <a:pt x="7444749" y="3690"/>
                  </a:lnTo>
                  <a:lnTo>
                    <a:pt x="7488131" y="14374"/>
                  </a:lnTo>
                  <a:lnTo>
                    <a:pt x="7528583" y="31471"/>
                  </a:lnTo>
                  <a:lnTo>
                    <a:pt x="7565526" y="54400"/>
                  </a:lnTo>
                  <a:lnTo>
                    <a:pt x="7598378" y="82581"/>
                  </a:lnTo>
                  <a:lnTo>
                    <a:pt x="7626559" y="115433"/>
                  </a:lnTo>
                  <a:lnTo>
                    <a:pt x="7649488" y="152376"/>
                  </a:lnTo>
                  <a:lnTo>
                    <a:pt x="7666585" y="192828"/>
                  </a:lnTo>
                  <a:lnTo>
                    <a:pt x="7677269" y="236210"/>
                  </a:lnTo>
                  <a:lnTo>
                    <a:pt x="7680959" y="281939"/>
                  </a:lnTo>
                  <a:lnTo>
                    <a:pt x="7680959" y="1409687"/>
                  </a:lnTo>
                  <a:lnTo>
                    <a:pt x="7677269" y="1455420"/>
                  </a:lnTo>
                  <a:lnTo>
                    <a:pt x="7666585" y="1498804"/>
                  </a:lnTo>
                  <a:lnTo>
                    <a:pt x="7649488" y="1539259"/>
                  </a:lnTo>
                  <a:lnTo>
                    <a:pt x="7626559" y="1576203"/>
                  </a:lnTo>
                  <a:lnTo>
                    <a:pt x="7598378" y="1609056"/>
                  </a:lnTo>
                  <a:lnTo>
                    <a:pt x="7565526" y="1637238"/>
                  </a:lnTo>
                  <a:lnTo>
                    <a:pt x="7528583" y="1660168"/>
                  </a:lnTo>
                  <a:lnTo>
                    <a:pt x="7488131" y="1677265"/>
                  </a:lnTo>
                  <a:lnTo>
                    <a:pt x="7444749" y="1687949"/>
                  </a:lnTo>
                  <a:lnTo>
                    <a:pt x="7399020" y="1691639"/>
                  </a:lnTo>
                  <a:lnTo>
                    <a:pt x="281939" y="1691639"/>
                  </a:lnTo>
                  <a:lnTo>
                    <a:pt x="236207" y="1687949"/>
                  </a:lnTo>
                  <a:lnTo>
                    <a:pt x="192823" y="1677265"/>
                  </a:lnTo>
                  <a:lnTo>
                    <a:pt x="152370" y="1660168"/>
                  </a:lnTo>
                  <a:lnTo>
                    <a:pt x="115428" y="1637238"/>
                  </a:lnTo>
                  <a:lnTo>
                    <a:pt x="82576" y="1609056"/>
                  </a:lnTo>
                  <a:lnTo>
                    <a:pt x="54397" y="1576203"/>
                  </a:lnTo>
                  <a:lnTo>
                    <a:pt x="31468" y="1539259"/>
                  </a:lnTo>
                  <a:lnTo>
                    <a:pt x="14373" y="1498804"/>
                  </a:lnTo>
                  <a:lnTo>
                    <a:pt x="3690" y="1455420"/>
                  </a:lnTo>
                  <a:lnTo>
                    <a:pt x="0" y="1409687"/>
                  </a:lnTo>
                  <a:lnTo>
                    <a:pt x="0" y="281939"/>
                  </a:lnTo>
                  <a:close/>
                </a:path>
              </a:pathLst>
            </a:custGeom>
            <a:ln w="9525">
              <a:solidFill>
                <a:srgbClr val="8FB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91387" y="1206753"/>
            <a:ext cx="7037705" cy="4649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100"/>
              </a:spcBef>
              <a:buChar char="•"/>
              <a:tabLst>
                <a:tab pos="177800" algn="l"/>
              </a:tabLst>
            </a:pPr>
            <a:r>
              <a:rPr sz="1800" dirty="0">
                <a:latin typeface="Calibri"/>
                <a:cs typeface="Calibri"/>
              </a:rPr>
              <a:t>Create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GitHub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account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project.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buChar char="•"/>
              <a:tabLst>
                <a:tab pos="177800" algn="l"/>
              </a:tabLst>
            </a:pPr>
            <a:r>
              <a:rPr sz="1800" dirty="0">
                <a:latin typeface="Calibri"/>
                <a:cs typeface="Calibri"/>
              </a:rPr>
              <a:t>Create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repository: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Balanced-</a:t>
            </a:r>
            <a:r>
              <a:rPr sz="1800" b="1" spc="-20" dirty="0">
                <a:latin typeface="Calibri"/>
                <a:cs typeface="Calibri"/>
              </a:rPr>
              <a:t>Parenthesis-</a:t>
            </a:r>
            <a:r>
              <a:rPr sz="1800" b="1" spc="-10" dirty="0">
                <a:latin typeface="Calibri"/>
                <a:cs typeface="Calibri"/>
              </a:rPr>
              <a:t>Checker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buChar char="•"/>
              <a:tabLst>
                <a:tab pos="177800" algn="l"/>
              </a:tabLst>
            </a:pPr>
            <a:r>
              <a:rPr sz="1800" dirty="0">
                <a:latin typeface="Calibri"/>
                <a:cs typeface="Calibri"/>
              </a:rPr>
              <a:t>Upload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Python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README.md.</a:t>
            </a:r>
            <a:endParaRPr sz="1800">
              <a:latin typeface="Calibri"/>
              <a:cs typeface="Calibri"/>
            </a:endParaRPr>
          </a:p>
          <a:p>
            <a:pPr marL="179070" indent="-166370">
              <a:lnSpc>
                <a:spcPct val="100000"/>
              </a:lnSpc>
              <a:buChar char="•"/>
              <a:tabLst>
                <a:tab pos="179070" algn="l"/>
              </a:tabLst>
            </a:pPr>
            <a:r>
              <a:rPr sz="1800" dirty="0">
                <a:latin typeface="Calibri"/>
                <a:cs typeface="Calibri"/>
              </a:rPr>
              <a:t>Use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meaningful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commits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as:</a:t>
            </a:r>
            <a:endParaRPr sz="1800">
              <a:latin typeface="Calibri"/>
              <a:cs typeface="Calibri"/>
            </a:endParaRPr>
          </a:p>
          <a:p>
            <a:pPr marL="12700" marR="498983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Initial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Python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code </a:t>
            </a:r>
            <a:r>
              <a:rPr sz="1800" dirty="0">
                <a:latin typeface="Calibri"/>
                <a:cs typeface="Calibri"/>
              </a:rPr>
              <a:t>Stack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implementation Parenthesis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matching </a:t>
            </a:r>
            <a:r>
              <a:rPr sz="1800" spc="-40" dirty="0">
                <a:latin typeface="Calibri"/>
                <a:cs typeface="Calibri"/>
              </a:rPr>
              <a:t>Test </a:t>
            </a:r>
            <a:r>
              <a:rPr sz="1800" spc="-10" dirty="0">
                <a:latin typeface="Calibri"/>
                <a:cs typeface="Calibri"/>
              </a:rPr>
              <a:t>cases Documentation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spcBef>
                <a:spcPts val="5"/>
              </a:spcBef>
              <a:buChar char="•"/>
              <a:tabLst>
                <a:tab pos="177800" algn="l"/>
              </a:tabLst>
            </a:pPr>
            <a:r>
              <a:rPr sz="1800" dirty="0">
                <a:latin typeface="Calibri"/>
                <a:cs typeface="Calibri"/>
              </a:rPr>
              <a:t>Use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repository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sharing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branches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collaboration.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buChar char="•"/>
              <a:tabLst>
                <a:tab pos="177800" algn="l"/>
              </a:tabLst>
            </a:pPr>
            <a:r>
              <a:rPr sz="1800" dirty="0">
                <a:latin typeface="Calibri"/>
                <a:cs typeface="Calibri"/>
              </a:rPr>
              <a:t>Keep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individual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contribution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visible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through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commits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documentation.</a:t>
            </a:r>
            <a:endParaRPr sz="1800">
              <a:latin typeface="Calibri"/>
              <a:cs typeface="Calibri"/>
            </a:endParaRPr>
          </a:p>
          <a:p>
            <a:pPr marL="428625">
              <a:lnSpc>
                <a:spcPct val="100000"/>
              </a:lnSpc>
              <a:spcBef>
                <a:spcPts val="1839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Balanced-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Parenthesis-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Checker</a:t>
            </a:r>
            <a:endParaRPr sz="1800">
              <a:latin typeface="Calibri"/>
              <a:cs typeface="Calibri"/>
            </a:endParaRPr>
          </a:p>
          <a:p>
            <a:pPr marL="428625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│</a:t>
            </a:r>
            <a:endParaRPr sz="1800">
              <a:latin typeface="Calibri"/>
              <a:cs typeface="Calibri"/>
            </a:endParaRPr>
          </a:p>
          <a:p>
            <a:pPr marL="428625">
              <a:lnSpc>
                <a:spcPct val="100000"/>
              </a:lnSpc>
              <a:spcBef>
                <a:spcPts val="35"/>
              </a:spcBef>
            </a:pPr>
            <a:r>
              <a:rPr sz="1800" dirty="0">
                <a:solidFill>
                  <a:srgbClr val="FFFFFF"/>
                </a:solidFill>
                <a:latin typeface="MS Gothic"/>
                <a:cs typeface="MS Gothic"/>
              </a:rPr>
              <a:t>├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──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main.py</a:t>
            </a:r>
            <a:endParaRPr sz="1800">
              <a:latin typeface="Calibri"/>
              <a:cs typeface="Calibri"/>
            </a:endParaRPr>
          </a:p>
          <a:p>
            <a:pPr marL="428625">
              <a:lnSpc>
                <a:spcPts val="2140"/>
              </a:lnSpc>
            </a:pPr>
            <a:r>
              <a:rPr sz="1800" dirty="0">
                <a:solidFill>
                  <a:srgbClr val="FFFFFF"/>
                </a:solidFill>
                <a:latin typeface="MS Gothic"/>
                <a:cs typeface="MS Gothic"/>
              </a:rPr>
              <a:t>├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──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README.md</a:t>
            </a:r>
            <a:endParaRPr sz="1800">
              <a:latin typeface="Calibri"/>
              <a:cs typeface="Calibri"/>
            </a:endParaRPr>
          </a:p>
          <a:p>
            <a:pPr marL="428625">
              <a:lnSpc>
                <a:spcPts val="214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└──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screenshots/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S.</a:t>
            </a:r>
            <a:r>
              <a:rPr spc="-25" dirty="0"/>
              <a:t> </a:t>
            </a:r>
            <a:r>
              <a:rPr dirty="0"/>
              <a:t>B.</a:t>
            </a:r>
            <a:r>
              <a:rPr spc="-10" dirty="0"/>
              <a:t> </a:t>
            </a:r>
            <a:r>
              <a:rPr dirty="0"/>
              <a:t>Jain</a:t>
            </a:r>
            <a:r>
              <a:rPr spc="-25" dirty="0"/>
              <a:t> </a:t>
            </a:r>
            <a:r>
              <a:rPr dirty="0"/>
              <a:t>Institute</a:t>
            </a:r>
            <a:r>
              <a:rPr spc="-1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Technology</a:t>
            </a:r>
            <a:r>
              <a:rPr spc="-20" dirty="0"/>
              <a:t> </a:t>
            </a:r>
            <a:r>
              <a:rPr dirty="0"/>
              <a:t>Management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Research,</a:t>
            </a:r>
            <a:r>
              <a:rPr spc="-5" dirty="0"/>
              <a:t> </a:t>
            </a:r>
            <a:r>
              <a:rPr spc="-10" dirty="0"/>
              <a:t>Nagpur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35" dirty="0"/>
              <a:t>Phase 1 - </a:t>
            </a:r>
            <a:r>
              <a:rPr spc="-35" dirty="0"/>
              <a:t> </a:t>
            </a:r>
            <a:r>
              <a:rPr dirty="0"/>
              <a:t>Individual</a:t>
            </a:r>
            <a:r>
              <a:rPr spc="-65" dirty="0"/>
              <a:t> </a:t>
            </a:r>
            <a:r>
              <a:rPr spc="-10" dirty="0"/>
              <a:t>Contribution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S.</a:t>
            </a:r>
            <a:r>
              <a:rPr spc="-25" dirty="0"/>
              <a:t> </a:t>
            </a:r>
            <a:r>
              <a:rPr dirty="0"/>
              <a:t>B.</a:t>
            </a:r>
            <a:r>
              <a:rPr spc="-10" dirty="0"/>
              <a:t> </a:t>
            </a:r>
            <a:r>
              <a:rPr dirty="0"/>
              <a:t>Jain</a:t>
            </a:r>
            <a:r>
              <a:rPr spc="-25" dirty="0"/>
              <a:t> </a:t>
            </a:r>
            <a:r>
              <a:rPr dirty="0"/>
              <a:t>Institute</a:t>
            </a:r>
            <a:r>
              <a:rPr spc="-1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Technology</a:t>
            </a:r>
            <a:r>
              <a:rPr spc="-20" dirty="0"/>
              <a:t> </a:t>
            </a:r>
            <a:r>
              <a:rPr dirty="0"/>
              <a:t>Management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Research,</a:t>
            </a:r>
            <a:r>
              <a:rPr spc="-5" dirty="0"/>
              <a:t> </a:t>
            </a:r>
            <a:r>
              <a:rPr spc="-10" dirty="0"/>
              <a:t>Nagpur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100"/>
              </a:spcBef>
              <a:buChar char="•"/>
              <a:tabLst>
                <a:tab pos="177800" algn="l"/>
              </a:tabLst>
            </a:pPr>
            <a:r>
              <a:rPr dirty="0"/>
              <a:t>Designed</a:t>
            </a:r>
            <a:r>
              <a:rPr spc="-5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logic</a:t>
            </a:r>
            <a:r>
              <a:rPr spc="-45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checking</a:t>
            </a:r>
            <a:r>
              <a:rPr spc="-30" dirty="0"/>
              <a:t> </a:t>
            </a:r>
            <a:r>
              <a:rPr dirty="0"/>
              <a:t>balanced</a:t>
            </a:r>
            <a:r>
              <a:rPr spc="-45" dirty="0"/>
              <a:t> </a:t>
            </a:r>
            <a:r>
              <a:rPr spc="-10" dirty="0"/>
              <a:t>parentheses.</a:t>
            </a:r>
          </a:p>
          <a:p>
            <a:pPr marL="177800" indent="-165100">
              <a:lnSpc>
                <a:spcPct val="100000"/>
              </a:lnSpc>
              <a:spcBef>
                <a:spcPts val="2160"/>
              </a:spcBef>
              <a:buChar char="•"/>
              <a:tabLst>
                <a:tab pos="177800" algn="l"/>
              </a:tabLst>
            </a:pPr>
            <a:r>
              <a:rPr spc="-10" dirty="0"/>
              <a:t>Implemented</a:t>
            </a:r>
            <a:r>
              <a:rPr spc="-1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stack-</a:t>
            </a:r>
            <a:r>
              <a:rPr dirty="0"/>
              <a:t>based</a:t>
            </a:r>
            <a:r>
              <a:rPr spc="-20" dirty="0"/>
              <a:t> </a:t>
            </a:r>
            <a:r>
              <a:rPr spc="-10" dirty="0"/>
              <a:t>approach</a:t>
            </a:r>
            <a:r>
              <a:rPr spc="-1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Python.</a:t>
            </a:r>
          </a:p>
          <a:p>
            <a:pPr marL="177800" indent="-165100">
              <a:lnSpc>
                <a:spcPct val="100000"/>
              </a:lnSpc>
              <a:spcBef>
                <a:spcPts val="2160"/>
              </a:spcBef>
              <a:buChar char="•"/>
              <a:tabLst>
                <a:tab pos="177800" algn="l"/>
              </a:tabLst>
            </a:pPr>
            <a:r>
              <a:rPr spc="-10" dirty="0"/>
              <a:t>Implemented</a:t>
            </a:r>
            <a:r>
              <a:rPr spc="-20" dirty="0"/>
              <a:t> </a:t>
            </a:r>
            <a:r>
              <a:rPr dirty="0"/>
              <a:t>matching</a:t>
            </a:r>
            <a:r>
              <a:rPr spc="-1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(),</a:t>
            </a:r>
            <a:r>
              <a:rPr spc="-5" dirty="0"/>
              <a:t> </a:t>
            </a:r>
            <a:r>
              <a:rPr dirty="0"/>
              <a:t>[],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{}.</a:t>
            </a:r>
          </a:p>
          <a:p>
            <a:pPr marL="179070" indent="-166370">
              <a:lnSpc>
                <a:spcPct val="100000"/>
              </a:lnSpc>
              <a:spcBef>
                <a:spcPts val="2160"/>
              </a:spcBef>
              <a:buChar char="•"/>
              <a:tabLst>
                <a:tab pos="179070" algn="l"/>
              </a:tabLst>
            </a:pPr>
            <a:r>
              <a:rPr spc="-30" dirty="0"/>
              <a:t>Tested</a:t>
            </a:r>
            <a:r>
              <a:rPr spc="-5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program</a:t>
            </a:r>
            <a:r>
              <a:rPr spc="-60" dirty="0"/>
              <a:t> </a:t>
            </a:r>
            <a:r>
              <a:rPr dirty="0"/>
              <a:t>using</a:t>
            </a:r>
            <a:r>
              <a:rPr spc="-55" dirty="0"/>
              <a:t> </a:t>
            </a:r>
            <a:r>
              <a:rPr dirty="0"/>
              <a:t>balanced</a:t>
            </a:r>
            <a:r>
              <a:rPr spc="-4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unbalanced</a:t>
            </a:r>
            <a:r>
              <a:rPr spc="-35" dirty="0"/>
              <a:t> </a:t>
            </a:r>
            <a:r>
              <a:rPr spc="-10" dirty="0"/>
              <a:t>expressions.</a:t>
            </a:r>
          </a:p>
          <a:p>
            <a:pPr marL="177800" indent="-165100">
              <a:lnSpc>
                <a:spcPct val="100000"/>
              </a:lnSpc>
              <a:spcBef>
                <a:spcPts val="2165"/>
              </a:spcBef>
              <a:buChar char="•"/>
              <a:tabLst>
                <a:tab pos="177800" algn="l"/>
              </a:tabLst>
            </a:pPr>
            <a:r>
              <a:rPr dirty="0"/>
              <a:t>Handled</a:t>
            </a:r>
            <a:r>
              <a:rPr spc="-45" dirty="0"/>
              <a:t> </a:t>
            </a:r>
            <a:r>
              <a:rPr dirty="0"/>
              <a:t>incorrect</a:t>
            </a:r>
            <a:r>
              <a:rPr spc="-50" dirty="0"/>
              <a:t> </a:t>
            </a:r>
            <a:r>
              <a:rPr dirty="0"/>
              <a:t>ordering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missing</a:t>
            </a:r>
            <a:r>
              <a:rPr spc="-55" dirty="0"/>
              <a:t> </a:t>
            </a:r>
            <a:r>
              <a:rPr spc="-10" dirty="0"/>
              <a:t>brackets.</a:t>
            </a:r>
          </a:p>
          <a:p>
            <a:pPr marL="177800" indent="-165100">
              <a:lnSpc>
                <a:spcPct val="100000"/>
              </a:lnSpc>
              <a:spcBef>
                <a:spcPts val="2160"/>
              </a:spcBef>
              <a:buChar char="•"/>
              <a:tabLst>
                <a:tab pos="177800" algn="l"/>
              </a:tabLst>
            </a:pPr>
            <a:r>
              <a:rPr dirty="0"/>
              <a:t>Prepared</a:t>
            </a:r>
            <a:r>
              <a:rPr spc="-50" dirty="0"/>
              <a:t> </a:t>
            </a:r>
            <a:r>
              <a:rPr spc="-10" dirty="0"/>
              <a:t>documentation,</a:t>
            </a:r>
            <a:r>
              <a:rPr spc="-45" dirty="0"/>
              <a:t> </a:t>
            </a:r>
            <a:r>
              <a:rPr spc="-10" dirty="0"/>
              <a:t>presentation</a:t>
            </a:r>
            <a:r>
              <a:rPr spc="-6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GitHub</a:t>
            </a:r>
            <a:r>
              <a:rPr spc="-40" dirty="0"/>
              <a:t> </a:t>
            </a:r>
            <a:r>
              <a:rPr spc="-10" dirty="0"/>
              <a:t>repository.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Phase 1 - </a:t>
            </a:r>
            <a:r>
              <a:rPr dirty="0"/>
              <a:t>Result</a:t>
            </a:r>
            <a:r>
              <a:rPr spc="-60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dirty="0"/>
              <a:t>Expected</a:t>
            </a:r>
            <a:r>
              <a:rPr spc="-65" dirty="0"/>
              <a:t> </a:t>
            </a:r>
            <a:r>
              <a:rPr spc="-10" dirty="0"/>
              <a:t>Output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84276" y="1210055"/>
            <a:ext cx="7771130" cy="4570730"/>
            <a:chOff x="684276" y="1210055"/>
            <a:chExt cx="7771130" cy="45707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276" y="1210055"/>
              <a:ext cx="7770876" cy="45704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1520" y="1234439"/>
              <a:ext cx="7680959" cy="4480560"/>
            </a:xfrm>
            <a:custGeom>
              <a:avLst/>
              <a:gdLst/>
              <a:ahLst/>
              <a:cxnLst/>
              <a:rect l="l" t="t" r="r" b="b"/>
              <a:pathLst>
                <a:path w="7680959" h="4480560">
                  <a:moveTo>
                    <a:pt x="6934200" y="0"/>
                  </a:moveTo>
                  <a:lnTo>
                    <a:pt x="746760" y="0"/>
                  </a:lnTo>
                  <a:lnTo>
                    <a:pt x="699534" y="1469"/>
                  </a:lnTo>
                  <a:lnTo>
                    <a:pt x="653088" y="5819"/>
                  </a:lnTo>
                  <a:lnTo>
                    <a:pt x="607511" y="12961"/>
                  </a:lnTo>
                  <a:lnTo>
                    <a:pt x="562889" y="22810"/>
                  </a:lnTo>
                  <a:lnTo>
                    <a:pt x="519310" y="35275"/>
                  </a:lnTo>
                  <a:lnTo>
                    <a:pt x="476862" y="50272"/>
                  </a:lnTo>
                  <a:lnTo>
                    <a:pt x="435631" y="67711"/>
                  </a:lnTo>
                  <a:lnTo>
                    <a:pt x="395706" y="87505"/>
                  </a:lnTo>
                  <a:lnTo>
                    <a:pt x="357173" y="109567"/>
                  </a:lnTo>
                  <a:lnTo>
                    <a:pt x="320121" y="133809"/>
                  </a:lnTo>
                  <a:lnTo>
                    <a:pt x="284637" y="160144"/>
                  </a:lnTo>
                  <a:lnTo>
                    <a:pt x="250808" y="188484"/>
                  </a:lnTo>
                  <a:lnTo>
                    <a:pt x="218722" y="218741"/>
                  </a:lnTo>
                  <a:lnTo>
                    <a:pt x="188466" y="250829"/>
                  </a:lnTo>
                  <a:lnTo>
                    <a:pt x="160128" y="284659"/>
                  </a:lnTo>
                  <a:lnTo>
                    <a:pt x="133795" y="320144"/>
                  </a:lnTo>
                  <a:lnTo>
                    <a:pt x="109555" y="357196"/>
                  </a:lnTo>
                  <a:lnTo>
                    <a:pt x="87495" y="395728"/>
                  </a:lnTo>
                  <a:lnTo>
                    <a:pt x="67703" y="435653"/>
                  </a:lnTo>
                  <a:lnTo>
                    <a:pt x="50265" y="476882"/>
                  </a:lnTo>
                  <a:lnTo>
                    <a:pt x="35271" y="519329"/>
                  </a:lnTo>
                  <a:lnTo>
                    <a:pt x="22807" y="562906"/>
                  </a:lnTo>
                  <a:lnTo>
                    <a:pt x="12960" y="607525"/>
                  </a:lnTo>
                  <a:lnTo>
                    <a:pt x="5818" y="653098"/>
                  </a:lnTo>
                  <a:lnTo>
                    <a:pt x="1469" y="699539"/>
                  </a:lnTo>
                  <a:lnTo>
                    <a:pt x="0" y="746760"/>
                  </a:lnTo>
                  <a:lnTo>
                    <a:pt x="0" y="3733800"/>
                  </a:lnTo>
                  <a:lnTo>
                    <a:pt x="1469" y="3781020"/>
                  </a:lnTo>
                  <a:lnTo>
                    <a:pt x="5818" y="3827461"/>
                  </a:lnTo>
                  <a:lnTo>
                    <a:pt x="12960" y="3873034"/>
                  </a:lnTo>
                  <a:lnTo>
                    <a:pt x="22807" y="3917653"/>
                  </a:lnTo>
                  <a:lnTo>
                    <a:pt x="35271" y="3961230"/>
                  </a:lnTo>
                  <a:lnTo>
                    <a:pt x="50265" y="4003677"/>
                  </a:lnTo>
                  <a:lnTo>
                    <a:pt x="67703" y="4044906"/>
                  </a:lnTo>
                  <a:lnTo>
                    <a:pt x="87495" y="4084831"/>
                  </a:lnTo>
                  <a:lnTo>
                    <a:pt x="109555" y="4123363"/>
                  </a:lnTo>
                  <a:lnTo>
                    <a:pt x="133795" y="4160415"/>
                  </a:lnTo>
                  <a:lnTo>
                    <a:pt x="160128" y="4195900"/>
                  </a:lnTo>
                  <a:lnTo>
                    <a:pt x="188466" y="4229730"/>
                  </a:lnTo>
                  <a:lnTo>
                    <a:pt x="218722" y="4261818"/>
                  </a:lnTo>
                  <a:lnTo>
                    <a:pt x="250808" y="4292075"/>
                  </a:lnTo>
                  <a:lnTo>
                    <a:pt x="284637" y="4320415"/>
                  </a:lnTo>
                  <a:lnTo>
                    <a:pt x="320121" y="4346750"/>
                  </a:lnTo>
                  <a:lnTo>
                    <a:pt x="357173" y="4370992"/>
                  </a:lnTo>
                  <a:lnTo>
                    <a:pt x="395706" y="4393054"/>
                  </a:lnTo>
                  <a:lnTo>
                    <a:pt x="435631" y="4412848"/>
                  </a:lnTo>
                  <a:lnTo>
                    <a:pt x="476862" y="4430287"/>
                  </a:lnTo>
                  <a:lnTo>
                    <a:pt x="519310" y="4445284"/>
                  </a:lnTo>
                  <a:lnTo>
                    <a:pt x="562889" y="4457749"/>
                  </a:lnTo>
                  <a:lnTo>
                    <a:pt x="607511" y="4467598"/>
                  </a:lnTo>
                  <a:lnTo>
                    <a:pt x="653088" y="4474740"/>
                  </a:lnTo>
                  <a:lnTo>
                    <a:pt x="699534" y="4479090"/>
                  </a:lnTo>
                  <a:lnTo>
                    <a:pt x="746760" y="4480560"/>
                  </a:lnTo>
                  <a:lnTo>
                    <a:pt x="6934200" y="4480560"/>
                  </a:lnTo>
                  <a:lnTo>
                    <a:pt x="6981420" y="4479090"/>
                  </a:lnTo>
                  <a:lnTo>
                    <a:pt x="7027861" y="4474740"/>
                  </a:lnTo>
                  <a:lnTo>
                    <a:pt x="7073434" y="4467598"/>
                  </a:lnTo>
                  <a:lnTo>
                    <a:pt x="7118053" y="4457749"/>
                  </a:lnTo>
                  <a:lnTo>
                    <a:pt x="7161630" y="4445284"/>
                  </a:lnTo>
                  <a:lnTo>
                    <a:pt x="7204077" y="4430287"/>
                  </a:lnTo>
                  <a:lnTo>
                    <a:pt x="7245306" y="4412848"/>
                  </a:lnTo>
                  <a:lnTo>
                    <a:pt x="7285231" y="4393054"/>
                  </a:lnTo>
                  <a:lnTo>
                    <a:pt x="7323763" y="4370992"/>
                  </a:lnTo>
                  <a:lnTo>
                    <a:pt x="7360815" y="4346750"/>
                  </a:lnTo>
                  <a:lnTo>
                    <a:pt x="7396300" y="4320415"/>
                  </a:lnTo>
                  <a:lnTo>
                    <a:pt x="7430130" y="4292075"/>
                  </a:lnTo>
                  <a:lnTo>
                    <a:pt x="7462218" y="4261818"/>
                  </a:lnTo>
                  <a:lnTo>
                    <a:pt x="7492475" y="4229730"/>
                  </a:lnTo>
                  <a:lnTo>
                    <a:pt x="7520815" y="4195900"/>
                  </a:lnTo>
                  <a:lnTo>
                    <a:pt x="7547150" y="4160415"/>
                  </a:lnTo>
                  <a:lnTo>
                    <a:pt x="7571392" y="4123363"/>
                  </a:lnTo>
                  <a:lnTo>
                    <a:pt x="7593454" y="4084831"/>
                  </a:lnTo>
                  <a:lnTo>
                    <a:pt x="7613248" y="4044906"/>
                  </a:lnTo>
                  <a:lnTo>
                    <a:pt x="7630687" y="4003677"/>
                  </a:lnTo>
                  <a:lnTo>
                    <a:pt x="7645684" y="3961230"/>
                  </a:lnTo>
                  <a:lnTo>
                    <a:pt x="7658149" y="3917653"/>
                  </a:lnTo>
                  <a:lnTo>
                    <a:pt x="7667998" y="3873034"/>
                  </a:lnTo>
                  <a:lnTo>
                    <a:pt x="7675140" y="3827461"/>
                  </a:lnTo>
                  <a:lnTo>
                    <a:pt x="7679490" y="3781020"/>
                  </a:lnTo>
                  <a:lnTo>
                    <a:pt x="7680959" y="3733800"/>
                  </a:lnTo>
                  <a:lnTo>
                    <a:pt x="7680959" y="746760"/>
                  </a:lnTo>
                  <a:lnTo>
                    <a:pt x="7679490" y="699539"/>
                  </a:lnTo>
                  <a:lnTo>
                    <a:pt x="7675140" y="653098"/>
                  </a:lnTo>
                  <a:lnTo>
                    <a:pt x="7667998" y="607525"/>
                  </a:lnTo>
                  <a:lnTo>
                    <a:pt x="7658149" y="562906"/>
                  </a:lnTo>
                  <a:lnTo>
                    <a:pt x="7645684" y="519329"/>
                  </a:lnTo>
                  <a:lnTo>
                    <a:pt x="7630687" y="476882"/>
                  </a:lnTo>
                  <a:lnTo>
                    <a:pt x="7613248" y="435653"/>
                  </a:lnTo>
                  <a:lnTo>
                    <a:pt x="7593454" y="395728"/>
                  </a:lnTo>
                  <a:lnTo>
                    <a:pt x="7571392" y="357196"/>
                  </a:lnTo>
                  <a:lnTo>
                    <a:pt x="7547150" y="320144"/>
                  </a:lnTo>
                  <a:lnTo>
                    <a:pt x="7520815" y="284659"/>
                  </a:lnTo>
                  <a:lnTo>
                    <a:pt x="7492475" y="250829"/>
                  </a:lnTo>
                  <a:lnTo>
                    <a:pt x="7462218" y="218741"/>
                  </a:lnTo>
                  <a:lnTo>
                    <a:pt x="7430130" y="188484"/>
                  </a:lnTo>
                  <a:lnTo>
                    <a:pt x="7396300" y="160144"/>
                  </a:lnTo>
                  <a:lnTo>
                    <a:pt x="7360815" y="133809"/>
                  </a:lnTo>
                  <a:lnTo>
                    <a:pt x="7323763" y="109567"/>
                  </a:lnTo>
                  <a:lnTo>
                    <a:pt x="7285231" y="87505"/>
                  </a:lnTo>
                  <a:lnTo>
                    <a:pt x="7245306" y="67711"/>
                  </a:lnTo>
                  <a:lnTo>
                    <a:pt x="7204077" y="50272"/>
                  </a:lnTo>
                  <a:lnTo>
                    <a:pt x="7161630" y="35275"/>
                  </a:lnTo>
                  <a:lnTo>
                    <a:pt x="7118053" y="22810"/>
                  </a:lnTo>
                  <a:lnTo>
                    <a:pt x="7073434" y="12961"/>
                  </a:lnTo>
                  <a:lnTo>
                    <a:pt x="7027861" y="5819"/>
                  </a:lnTo>
                  <a:lnTo>
                    <a:pt x="6981420" y="1469"/>
                  </a:lnTo>
                  <a:lnTo>
                    <a:pt x="6934200" y="0"/>
                  </a:lnTo>
                  <a:close/>
                </a:path>
              </a:pathLst>
            </a:custGeom>
            <a:solidFill>
              <a:srgbClr val="222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1520" y="1234439"/>
              <a:ext cx="7680959" cy="4480560"/>
            </a:xfrm>
            <a:custGeom>
              <a:avLst/>
              <a:gdLst/>
              <a:ahLst/>
              <a:cxnLst/>
              <a:rect l="l" t="t" r="r" b="b"/>
              <a:pathLst>
                <a:path w="7680959" h="4480560">
                  <a:moveTo>
                    <a:pt x="0" y="746760"/>
                  </a:moveTo>
                  <a:lnTo>
                    <a:pt x="1469" y="699539"/>
                  </a:lnTo>
                  <a:lnTo>
                    <a:pt x="5818" y="653098"/>
                  </a:lnTo>
                  <a:lnTo>
                    <a:pt x="12960" y="607525"/>
                  </a:lnTo>
                  <a:lnTo>
                    <a:pt x="22807" y="562906"/>
                  </a:lnTo>
                  <a:lnTo>
                    <a:pt x="35271" y="519329"/>
                  </a:lnTo>
                  <a:lnTo>
                    <a:pt x="50265" y="476882"/>
                  </a:lnTo>
                  <a:lnTo>
                    <a:pt x="67703" y="435653"/>
                  </a:lnTo>
                  <a:lnTo>
                    <a:pt x="87495" y="395728"/>
                  </a:lnTo>
                  <a:lnTo>
                    <a:pt x="109555" y="357196"/>
                  </a:lnTo>
                  <a:lnTo>
                    <a:pt x="133795" y="320144"/>
                  </a:lnTo>
                  <a:lnTo>
                    <a:pt x="160128" y="284659"/>
                  </a:lnTo>
                  <a:lnTo>
                    <a:pt x="188466" y="250829"/>
                  </a:lnTo>
                  <a:lnTo>
                    <a:pt x="218722" y="218741"/>
                  </a:lnTo>
                  <a:lnTo>
                    <a:pt x="250808" y="188484"/>
                  </a:lnTo>
                  <a:lnTo>
                    <a:pt x="284637" y="160144"/>
                  </a:lnTo>
                  <a:lnTo>
                    <a:pt x="320121" y="133809"/>
                  </a:lnTo>
                  <a:lnTo>
                    <a:pt x="357173" y="109567"/>
                  </a:lnTo>
                  <a:lnTo>
                    <a:pt x="395706" y="87505"/>
                  </a:lnTo>
                  <a:lnTo>
                    <a:pt x="435631" y="67711"/>
                  </a:lnTo>
                  <a:lnTo>
                    <a:pt x="476862" y="50272"/>
                  </a:lnTo>
                  <a:lnTo>
                    <a:pt x="519310" y="35275"/>
                  </a:lnTo>
                  <a:lnTo>
                    <a:pt x="562889" y="22810"/>
                  </a:lnTo>
                  <a:lnTo>
                    <a:pt x="607511" y="12961"/>
                  </a:lnTo>
                  <a:lnTo>
                    <a:pt x="653088" y="5819"/>
                  </a:lnTo>
                  <a:lnTo>
                    <a:pt x="699534" y="1469"/>
                  </a:lnTo>
                  <a:lnTo>
                    <a:pt x="746760" y="0"/>
                  </a:lnTo>
                  <a:lnTo>
                    <a:pt x="6934200" y="0"/>
                  </a:lnTo>
                  <a:lnTo>
                    <a:pt x="6981420" y="1469"/>
                  </a:lnTo>
                  <a:lnTo>
                    <a:pt x="7027861" y="5819"/>
                  </a:lnTo>
                  <a:lnTo>
                    <a:pt x="7073434" y="12961"/>
                  </a:lnTo>
                  <a:lnTo>
                    <a:pt x="7118053" y="22810"/>
                  </a:lnTo>
                  <a:lnTo>
                    <a:pt x="7161630" y="35275"/>
                  </a:lnTo>
                  <a:lnTo>
                    <a:pt x="7204077" y="50272"/>
                  </a:lnTo>
                  <a:lnTo>
                    <a:pt x="7245306" y="67711"/>
                  </a:lnTo>
                  <a:lnTo>
                    <a:pt x="7285231" y="87505"/>
                  </a:lnTo>
                  <a:lnTo>
                    <a:pt x="7323763" y="109567"/>
                  </a:lnTo>
                  <a:lnTo>
                    <a:pt x="7360815" y="133809"/>
                  </a:lnTo>
                  <a:lnTo>
                    <a:pt x="7396300" y="160144"/>
                  </a:lnTo>
                  <a:lnTo>
                    <a:pt x="7430130" y="188484"/>
                  </a:lnTo>
                  <a:lnTo>
                    <a:pt x="7462218" y="218741"/>
                  </a:lnTo>
                  <a:lnTo>
                    <a:pt x="7492475" y="250829"/>
                  </a:lnTo>
                  <a:lnTo>
                    <a:pt x="7520815" y="284659"/>
                  </a:lnTo>
                  <a:lnTo>
                    <a:pt x="7547150" y="320144"/>
                  </a:lnTo>
                  <a:lnTo>
                    <a:pt x="7571392" y="357196"/>
                  </a:lnTo>
                  <a:lnTo>
                    <a:pt x="7593454" y="395728"/>
                  </a:lnTo>
                  <a:lnTo>
                    <a:pt x="7613248" y="435653"/>
                  </a:lnTo>
                  <a:lnTo>
                    <a:pt x="7630687" y="476882"/>
                  </a:lnTo>
                  <a:lnTo>
                    <a:pt x="7645684" y="519329"/>
                  </a:lnTo>
                  <a:lnTo>
                    <a:pt x="7658149" y="562906"/>
                  </a:lnTo>
                  <a:lnTo>
                    <a:pt x="7667998" y="607525"/>
                  </a:lnTo>
                  <a:lnTo>
                    <a:pt x="7675140" y="653098"/>
                  </a:lnTo>
                  <a:lnTo>
                    <a:pt x="7679490" y="699539"/>
                  </a:lnTo>
                  <a:lnTo>
                    <a:pt x="7680959" y="746760"/>
                  </a:lnTo>
                  <a:lnTo>
                    <a:pt x="7680959" y="3733800"/>
                  </a:lnTo>
                  <a:lnTo>
                    <a:pt x="7679490" y="3781020"/>
                  </a:lnTo>
                  <a:lnTo>
                    <a:pt x="7675140" y="3827461"/>
                  </a:lnTo>
                  <a:lnTo>
                    <a:pt x="7667998" y="3873034"/>
                  </a:lnTo>
                  <a:lnTo>
                    <a:pt x="7658149" y="3917653"/>
                  </a:lnTo>
                  <a:lnTo>
                    <a:pt x="7645684" y="3961230"/>
                  </a:lnTo>
                  <a:lnTo>
                    <a:pt x="7630687" y="4003677"/>
                  </a:lnTo>
                  <a:lnTo>
                    <a:pt x="7613248" y="4044906"/>
                  </a:lnTo>
                  <a:lnTo>
                    <a:pt x="7593454" y="4084831"/>
                  </a:lnTo>
                  <a:lnTo>
                    <a:pt x="7571392" y="4123363"/>
                  </a:lnTo>
                  <a:lnTo>
                    <a:pt x="7547150" y="4160415"/>
                  </a:lnTo>
                  <a:lnTo>
                    <a:pt x="7520815" y="4195900"/>
                  </a:lnTo>
                  <a:lnTo>
                    <a:pt x="7492475" y="4229730"/>
                  </a:lnTo>
                  <a:lnTo>
                    <a:pt x="7462218" y="4261818"/>
                  </a:lnTo>
                  <a:lnTo>
                    <a:pt x="7430130" y="4292075"/>
                  </a:lnTo>
                  <a:lnTo>
                    <a:pt x="7396300" y="4320415"/>
                  </a:lnTo>
                  <a:lnTo>
                    <a:pt x="7360815" y="4346750"/>
                  </a:lnTo>
                  <a:lnTo>
                    <a:pt x="7323763" y="4370992"/>
                  </a:lnTo>
                  <a:lnTo>
                    <a:pt x="7285231" y="4393054"/>
                  </a:lnTo>
                  <a:lnTo>
                    <a:pt x="7245306" y="4412848"/>
                  </a:lnTo>
                  <a:lnTo>
                    <a:pt x="7204077" y="4430287"/>
                  </a:lnTo>
                  <a:lnTo>
                    <a:pt x="7161630" y="4445284"/>
                  </a:lnTo>
                  <a:lnTo>
                    <a:pt x="7118053" y="4457749"/>
                  </a:lnTo>
                  <a:lnTo>
                    <a:pt x="7073434" y="4467598"/>
                  </a:lnTo>
                  <a:lnTo>
                    <a:pt x="7027861" y="4474740"/>
                  </a:lnTo>
                  <a:lnTo>
                    <a:pt x="6981420" y="4479090"/>
                  </a:lnTo>
                  <a:lnTo>
                    <a:pt x="6934200" y="4480560"/>
                  </a:lnTo>
                  <a:lnTo>
                    <a:pt x="746760" y="4480560"/>
                  </a:lnTo>
                  <a:lnTo>
                    <a:pt x="699534" y="4479090"/>
                  </a:lnTo>
                  <a:lnTo>
                    <a:pt x="653088" y="4474740"/>
                  </a:lnTo>
                  <a:lnTo>
                    <a:pt x="607511" y="4467598"/>
                  </a:lnTo>
                  <a:lnTo>
                    <a:pt x="562889" y="4457749"/>
                  </a:lnTo>
                  <a:lnTo>
                    <a:pt x="519310" y="4445284"/>
                  </a:lnTo>
                  <a:lnTo>
                    <a:pt x="476862" y="4430287"/>
                  </a:lnTo>
                  <a:lnTo>
                    <a:pt x="435631" y="4412848"/>
                  </a:lnTo>
                  <a:lnTo>
                    <a:pt x="395706" y="4393054"/>
                  </a:lnTo>
                  <a:lnTo>
                    <a:pt x="357173" y="4370992"/>
                  </a:lnTo>
                  <a:lnTo>
                    <a:pt x="320121" y="4346750"/>
                  </a:lnTo>
                  <a:lnTo>
                    <a:pt x="284637" y="4320415"/>
                  </a:lnTo>
                  <a:lnTo>
                    <a:pt x="250808" y="4292075"/>
                  </a:lnTo>
                  <a:lnTo>
                    <a:pt x="218722" y="4261818"/>
                  </a:lnTo>
                  <a:lnTo>
                    <a:pt x="188466" y="4229730"/>
                  </a:lnTo>
                  <a:lnTo>
                    <a:pt x="160128" y="4195900"/>
                  </a:lnTo>
                  <a:lnTo>
                    <a:pt x="133795" y="4160415"/>
                  </a:lnTo>
                  <a:lnTo>
                    <a:pt x="109555" y="4123363"/>
                  </a:lnTo>
                  <a:lnTo>
                    <a:pt x="87495" y="4084831"/>
                  </a:lnTo>
                  <a:lnTo>
                    <a:pt x="67703" y="4044906"/>
                  </a:lnTo>
                  <a:lnTo>
                    <a:pt x="50265" y="4003677"/>
                  </a:lnTo>
                  <a:lnTo>
                    <a:pt x="35271" y="3961230"/>
                  </a:lnTo>
                  <a:lnTo>
                    <a:pt x="22807" y="3917653"/>
                  </a:lnTo>
                  <a:lnTo>
                    <a:pt x="12960" y="3873034"/>
                  </a:lnTo>
                  <a:lnTo>
                    <a:pt x="5818" y="3827461"/>
                  </a:lnTo>
                  <a:lnTo>
                    <a:pt x="1469" y="3781020"/>
                  </a:lnTo>
                  <a:lnTo>
                    <a:pt x="0" y="3733800"/>
                  </a:lnTo>
                  <a:lnTo>
                    <a:pt x="0" y="746760"/>
                  </a:lnTo>
                  <a:close/>
                </a:path>
              </a:pathLst>
            </a:custGeom>
            <a:ln w="9525">
              <a:solidFill>
                <a:srgbClr val="8FB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06677" y="5828487"/>
            <a:ext cx="5927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16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00FF"/>
                </a:solidFill>
                <a:latin typeface="Calibri"/>
                <a:cs typeface="Calibri"/>
              </a:rPr>
              <a:t>system</a:t>
            </a:r>
            <a:r>
              <a:rPr sz="16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00FF"/>
                </a:solidFill>
                <a:latin typeface="Calibri"/>
                <a:cs typeface="Calibri"/>
              </a:rPr>
              <a:t>recommends</a:t>
            </a:r>
            <a:r>
              <a:rPr sz="16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00FF"/>
                </a:solidFill>
                <a:latin typeface="Calibri"/>
                <a:cs typeface="Calibri"/>
              </a:rPr>
              <a:t>users</a:t>
            </a:r>
            <a:r>
              <a:rPr sz="16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00FF"/>
                </a:solidFill>
                <a:latin typeface="Calibri"/>
                <a:cs typeface="Calibri"/>
              </a:rPr>
              <a:t>with</a:t>
            </a:r>
            <a:r>
              <a:rPr sz="16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00FF"/>
                </a:solidFill>
                <a:latin typeface="Calibri"/>
                <a:cs typeface="Calibri"/>
              </a:rPr>
              <a:t>stronger</a:t>
            </a:r>
            <a:r>
              <a:rPr sz="1600" b="1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00FF"/>
                </a:solidFill>
                <a:latin typeface="Calibri"/>
                <a:cs typeface="Calibri"/>
              </a:rPr>
              <a:t>mutual</a:t>
            </a:r>
            <a:r>
              <a:rPr sz="16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00FF"/>
                </a:solidFill>
                <a:latin typeface="Calibri"/>
                <a:cs typeface="Calibri"/>
              </a:rPr>
              <a:t>connections</a:t>
            </a:r>
            <a:r>
              <a:rPr sz="160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00FF"/>
                </a:solidFill>
                <a:latin typeface="Calibri"/>
                <a:cs typeface="Calibri"/>
              </a:rPr>
              <a:t>first.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S.</a:t>
            </a:r>
            <a:r>
              <a:rPr spc="-25" dirty="0"/>
              <a:t> </a:t>
            </a:r>
            <a:r>
              <a:rPr dirty="0"/>
              <a:t>B.</a:t>
            </a:r>
            <a:r>
              <a:rPr spc="-10" dirty="0"/>
              <a:t> </a:t>
            </a:r>
            <a:r>
              <a:rPr dirty="0"/>
              <a:t>Jain</a:t>
            </a:r>
            <a:r>
              <a:rPr spc="-25" dirty="0"/>
              <a:t> </a:t>
            </a:r>
            <a:r>
              <a:rPr dirty="0"/>
              <a:t>Institute</a:t>
            </a:r>
            <a:r>
              <a:rPr spc="-1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Technology</a:t>
            </a:r>
            <a:r>
              <a:rPr spc="-20" dirty="0"/>
              <a:t> </a:t>
            </a:r>
            <a:r>
              <a:rPr dirty="0"/>
              <a:t>Management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Research,</a:t>
            </a:r>
            <a:r>
              <a:rPr spc="-5" dirty="0"/>
              <a:t> </a:t>
            </a:r>
            <a:r>
              <a:rPr spc="-10" dirty="0"/>
              <a:t>Nagpur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96441" y="1570990"/>
            <a:ext cx="245681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Input: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Enter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expression: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{[()]}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Output: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Balanced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Parentheses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Input: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Enter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expression: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{[(])}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Output: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Balanced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Parentheses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4FCC9DE-F45F-2CBD-F437-6A05055DDD05}"/>
              </a:ext>
            </a:extLst>
          </p:cNvPr>
          <p:cNvSpPr txBox="1"/>
          <p:nvPr/>
        </p:nvSpPr>
        <p:spPr>
          <a:xfrm>
            <a:off x="609600" y="533400"/>
            <a:ext cx="739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Phase 2: Graph Representation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FBDB26-5065-B016-E79C-97A102A50A62}"/>
              </a:ext>
            </a:extLst>
          </p:cNvPr>
          <p:cNvSpPr txBox="1"/>
          <p:nvPr/>
        </p:nvSpPr>
        <p:spPr>
          <a:xfrm>
            <a:off x="637674" y="1752600"/>
            <a:ext cx="716280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Graph Representation and Working</a:t>
            </a:r>
          </a:p>
          <a:p>
            <a:endParaRPr lang="en-US" b="1" dirty="0"/>
          </a:p>
          <a:p>
            <a:r>
              <a:rPr lang="en-US" b="1" dirty="0"/>
              <a:t>Content:</a:t>
            </a:r>
          </a:p>
          <a:p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Represent users as </a:t>
            </a:r>
            <a:r>
              <a:rPr lang="en-US" b="1" dirty="0"/>
              <a:t>vertices (nodes)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Represent friendships as </a:t>
            </a:r>
            <a:r>
              <a:rPr lang="en-US" b="1" dirty="0"/>
              <a:t>edges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Store the network using an </a:t>
            </a:r>
            <a:r>
              <a:rPr lang="en-US" b="1" dirty="0"/>
              <a:t>Adjacency List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 users and create friendship connections.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Graph helps us understand connections between users.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602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200E51-EF56-930E-FA80-8ACBC650EC28}"/>
              </a:ext>
            </a:extLst>
          </p:cNvPr>
          <p:cNvSpPr txBox="1"/>
          <p:nvPr/>
        </p:nvSpPr>
        <p:spPr>
          <a:xfrm>
            <a:off x="914400" y="762000"/>
            <a:ext cx="76962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Phase 2 - Friend Recommendation Algorithm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Algorithm</a:t>
            </a:r>
            <a:endParaRPr lang="en-US" b="1" dirty="0"/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Input the </a:t>
            </a:r>
            <a:r>
              <a:rPr lang="en-US" b="1" dirty="0"/>
              <a:t>target user</a:t>
            </a:r>
            <a:r>
              <a:rPr lang="en-US" dirty="0"/>
              <a:t>. 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Find the user's direct friends. 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Check connections of each direct friend. 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Ignore existing friends and the target user. 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Count </a:t>
            </a:r>
            <a:r>
              <a:rPr lang="en-US" b="1" dirty="0"/>
              <a:t>mutual connections</a:t>
            </a:r>
            <a:r>
              <a:rPr lang="en-US" dirty="0"/>
              <a:t>. 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Sort candidates by mutual-friend count. 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Display recommended friends.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908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D515D0-2EF6-0F69-FD91-35861278163A}"/>
              </a:ext>
            </a:extLst>
          </p:cNvPr>
          <p:cNvSpPr txBox="1"/>
          <p:nvPr/>
        </p:nvSpPr>
        <p:spPr>
          <a:xfrm>
            <a:off x="838200" y="533400"/>
            <a:ext cx="754380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Phase 2 - Python Logic &amp; Result</a:t>
            </a:r>
          </a:p>
          <a:p>
            <a:endParaRPr lang="en-US" sz="3200" b="1" dirty="0"/>
          </a:p>
          <a:p>
            <a:r>
              <a:rPr lang="en-US" b="1" dirty="0">
                <a:solidFill>
                  <a:srgbClr val="FF0000"/>
                </a:solidFill>
              </a:rPr>
              <a:t>Python Logic</a:t>
            </a:r>
          </a:p>
          <a:p>
            <a:endParaRPr lang="en-US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Dictionary</a:t>
            </a:r>
            <a:r>
              <a:rPr lang="en-US" dirty="0"/>
              <a:t> → store the graph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Set</a:t>
            </a:r>
            <a:r>
              <a:rPr lang="en-US" dirty="0"/>
              <a:t> → store unique friends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Intersection</a:t>
            </a:r>
            <a:r>
              <a:rPr lang="en-US" dirty="0"/>
              <a:t> → find mutual friends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Sorting</a:t>
            </a:r>
            <a:r>
              <a:rPr lang="en-US" dirty="0"/>
              <a:t> → rank recommendations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Deque</a:t>
            </a:r>
            <a:r>
              <a:rPr lang="en-US" dirty="0"/>
              <a:t> → implement BFS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81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21653B9-563A-F26E-A25D-5A9F3A3B283D}"/>
              </a:ext>
            </a:extLst>
          </p:cNvPr>
          <p:cNvSpPr txBox="1"/>
          <p:nvPr/>
        </p:nvSpPr>
        <p:spPr>
          <a:xfrm>
            <a:off x="3124200" y="1524000"/>
            <a:ext cx="7620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</a:t>
            </a:r>
          </a:p>
          <a:p>
            <a:r>
              <a:rPr lang="en-US" dirty="0"/>
              <a:t>  ↓</a:t>
            </a:r>
          </a:p>
          <a:p>
            <a:r>
              <a:rPr lang="en-US" dirty="0"/>
              <a:t>Enter Target User</a:t>
            </a:r>
          </a:p>
          <a:p>
            <a:r>
              <a:rPr lang="en-US" dirty="0"/>
              <a:t>  ↓</a:t>
            </a:r>
          </a:p>
          <a:p>
            <a:r>
              <a:rPr lang="en-US" dirty="0"/>
              <a:t>Get Direct Friends</a:t>
            </a:r>
          </a:p>
          <a:p>
            <a:r>
              <a:rPr lang="en-US" dirty="0"/>
              <a:t>  ↓</a:t>
            </a:r>
          </a:p>
          <a:p>
            <a:r>
              <a:rPr lang="en-US" dirty="0"/>
              <a:t>Check Friends of Friends</a:t>
            </a:r>
          </a:p>
          <a:p>
            <a:r>
              <a:rPr lang="en-US" dirty="0"/>
              <a:t>  ↓</a:t>
            </a:r>
          </a:p>
          <a:p>
            <a:r>
              <a:rPr lang="en-US" dirty="0"/>
              <a:t>Count Mutual Friends</a:t>
            </a:r>
          </a:p>
          <a:p>
            <a:r>
              <a:rPr lang="en-US" dirty="0"/>
              <a:t>  ↓</a:t>
            </a:r>
          </a:p>
          <a:p>
            <a:r>
              <a:rPr lang="en-US" dirty="0"/>
              <a:t>Sort Recommendations</a:t>
            </a:r>
          </a:p>
          <a:p>
            <a:r>
              <a:rPr lang="en-US" dirty="0"/>
              <a:t>  ↓</a:t>
            </a:r>
          </a:p>
          <a:p>
            <a:r>
              <a:rPr lang="en-US" dirty="0"/>
              <a:t>Display Recommendations</a:t>
            </a:r>
          </a:p>
          <a:p>
            <a:r>
              <a:rPr lang="en-US" dirty="0"/>
              <a:t>  ↓</a:t>
            </a:r>
          </a:p>
          <a:p>
            <a:r>
              <a:rPr lang="en-US" dirty="0"/>
              <a:t>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4CED84-8294-4001-D436-BE50B6ED5DF1}"/>
              </a:ext>
            </a:extLst>
          </p:cNvPr>
          <p:cNvSpPr txBox="1"/>
          <p:nvPr/>
        </p:nvSpPr>
        <p:spPr>
          <a:xfrm>
            <a:off x="533400" y="609600"/>
            <a:ext cx="76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Phase 2 - Flowchart: Friend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2691722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4726AEF-B88F-53FD-6159-FF0812CD4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" t="27217" r="840"/>
          <a:stretch/>
        </p:blipFill>
        <p:spPr>
          <a:xfrm>
            <a:off x="381000" y="1116445"/>
            <a:ext cx="8382000" cy="46251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92DA54-AE46-DD03-4303-BCE33A9AE88D}"/>
              </a:ext>
            </a:extLst>
          </p:cNvPr>
          <p:cNvSpPr txBox="1"/>
          <p:nvPr/>
        </p:nvSpPr>
        <p:spPr>
          <a:xfrm>
            <a:off x="685800" y="381000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pc="-40" dirty="0"/>
              <a:t>Phase 2 -  </a:t>
            </a:r>
            <a:r>
              <a:rPr lang="en-US" sz="2400" dirty="0"/>
              <a:t>Result</a:t>
            </a:r>
            <a:r>
              <a:rPr lang="en-US" sz="2400" spc="-60" dirty="0"/>
              <a:t> </a:t>
            </a:r>
            <a:r>
              <a:rPr lang="en-US" sz="2400" dirty="0"/>
              <a:t>/</a:t>
            </a:r>
            <a:r>
              <a:rPr lang="en-US" sz="2400" spc="-35" dirty="0"/>
              <a:t> </a:t>
            </a:r>
            <a:r>
              <a:rPr lang="en-US" sz="2400" dirty="0"/>
              <a:t>Expected</a:t>
            </a:r>
            <a:r>
              <a:rPr lang="en-US" sz="2400" spc="-65" dirty="0"/>
              <a:t> </a:t>
            </a:r>
            <a:r>
              <a:rPr lang="en-US" sz="2400" spc="-10" dirty="0"/>
              <a:t>Output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79598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6CBF40-2B6D-27BF-0615-555195B7D151}"/>
              </a:ext>
            </a:extLst>
          </p:cNvPr>
          <p:cNvSpPr txBox="1"/>
          <p:nvPr/>
        </p:nvSpPr>
        <p:spPr>
          <a:xfrm>
            <a:off x="1143000" y="304800"/>
            <a:ext cx="754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GitHub: Phase II Development &amp; Contribution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4E117C6-AC2F-0234-2700-6FD3A368A472}"/>
              </a:ext>
            </a:extLst>
          </p:cNvPr>
          <p:cNvSpPr/>
          <p:nvPr/>
        </p:nvSpPr>
        <p:spPr>
          <a:xfrm>
            <a:off x="400987" y="1265753"/>
            <a:ext cx="3733800" cy="2209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97C7BC-A337-778B-D4F5-8958B04A824A}"/>
              </a:ext>
            </a:extLst>
          </p:cNvPr>
          <p:cNvSpPr txBox="1"/>
          <p:nvPr/>
        </p:nvSpPr>
        <p:spPr>
          <a:xfrm>
            <a:off x="990600" y="1416159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GitHub Repository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7AF3CF-9493-0C95-063D-DCC0DFCC702F}"/>
              </a:ext>
            </a:extLst>
          </p:cNvPr>
          <p:cNvSpPr txBox="1"/>
          <p:nvPr/>
        </p:nvSpPr>
        <p:spPr>
          <a:xfrm>
            <a:off x="614596" y="1813173"/>
            <a:ext cx="3276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Balanced-Parenthesis-Checker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1E9060-6BBA-A6D4-9978-2C7BE9FCB5D3}"/>
              </a:ext>
            </a:extLst>
          </p:cNvPr>
          <p:cNvSpPr txBox="1"/>
          <p:nvPr/>
        </p:nvSpPr>
        <p:spPr>
          <a:xfrm>
            <a:off x="459698" y="2144232"/>
            <a:ext cx="3957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Python project repository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main.py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README.md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Screenshots / documentation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873491-10E5-DE6E-8171-A830294CABB0}"/>
              </a:ext>
            </a:extLst>
          </p:cNvPr>
          <p:cNvSpPr/>
          <p:nvPr/>
        </p:nvSpPr>
        <p:spPr>
          <a:xfrm>
            <a:off x="459698" y="3733800"/>
            <a:ext cx="3807502" cy="2438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64B03-D4BA-903B-968D-ED39E1796E17}"/>
              </a:ext>
            </a:extLst>
          </p:cNvPr>
          <p:cNvSpPr txBox="1"/>
          <p:nvPr/>
        </p:nvSpPr>
        <p:spPr>
          <a:xfrm>
            <a:off x="613347" y="3979997"/>
            <a:ext cx="350020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Phase II Progress✓ </a:t>
            </a:r>
            <a:r>
              <a:rPr lang="en-US" sz="1600" dirty="0">
                <a:solidFill>
                  <a:schemeClr val="bg1"/>
                </a:solidFill>
              </a:rPr>
              <a:t>Implemented stack-based approach</a:t>
            </a:r>
          </a:p>
          <a:p>
            <a:r>
              <a:rPr lang="en-US" sz="1600" dirty="0">
                <a:solidFill>
                  <a:schemeClr val="bg1"/>
                </a:solidFill>
              </a:rPr>
              <a:t>✓ Matching of (), [], {}</a:t>
            </a:r>
          </a:p>
          <a:p>
            <a:r>
              <a:rPr lang="en-US" sz="1600" dirty="0">
                <a:solidFill>
                  <a:schemeClr val="bg1"/>
                </a:solidFill>
              </a:rPr>
              <a:t>✓ Checked correct ordering</a:t>
            </a:r>
          </a:p>
          <a:p>
            <a:r>
              <a:rPr lang="en-US" sz="1600" dirty="0">
                <a:solidFill>
                  <a:schemeClr val="bg1"/>
                </a:solidFill>
              </a:rPr>
              <a:t>✓ Tested balanced and unbalanced expressions</a:t>
            </a:r>
          </a:p>
          <a:p>
            <a:r>
              <a:rPr lang="en-US" sz="1600" dirty="0">
                <a:solidFill>
                  <a:schemeClr val="bg1"/>
                </a:solidFill>
              </a:rPr>
              <a:t>✓ Handled missing/wrong brackets</a:t>
            </a:r>
            <a:r>
              <a:rPr lang="en-US" sz="1600" dirty="0"/>
              <a:t> </a:t>
            </a:r>
          </a:p>
          <a:p>
            <a:endParaRPr lang="en-US" sz="16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EC7215A-801F-18C1-B81B-C511078214E5}"/>
              </a:ext>
            </a:extLst>
          </p:cNvPr>
          <p:cNvSpPr/>
          <p:nvPr/>
        </p:nvSpPr>
        <p:spPr>
          <a:xfrm>
            <a:off x="5410200" y="876300"/>
            <a:ext cx="2585804" cy="5105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DFFD7C-1770-8E8F-B610-88902BE90E9C}"/>
              </a:ext>
            </a:extLst>
          </p:cNvPr>
          <p:cNvSpPr txBox="1"/>
          <p:nvPr/>
        </p:nvSpPr>
        <p:spPr>
          <a:xfrm>
            <a:off x="5791200" y="1671673"/>
            <a:ext cx="2057400" cy="3493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Phase II Commit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Added Python implementation Implemented parenthesis matching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Added test cases Updated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228056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2EEF-6170-77A9-B82B-E0031D749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D4833D1-C667-64E4-A961-92504FBD1497}"/>
              </a:ext>
            </a:extLst>
          </p:cNvPr>
          <p:cNvSpPr txBox="1"/>
          <p:nvPr/>
        </p:nvSpPr>
        <p:spPr>
          <a:xfrm>
            <a:off x="533400" y="609600"/>
            <a:ext cx="76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Phase 3 - </a:t>
            </a:r>
            <a:r>
              <a:rPr lang="en-IN" sz="2800" dirty="0"/>
              <a:t>Problem Statement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DEE45E-F3C4-26A0-1AD5-67A6676B9711}"/>
              </a:ext>
            </a:extLst>
          </p:cNvPr>
          <p:cNvSpPr txBox="1"/>
          <p:nvPr/>
        </p:nvSpPr>
        <p:spPr>
          <a:xfrm>
            <a:off x="533400" y="1178777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Brackets must open and close in the correct order. In deeply nested expressions, checking them manually can be error-prone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EA12C0-12FA-AE32-C580-FC81F3376F52}"/>
              </a:ext>
            </a:extLst>
          </p:cNvPr>
          <p:cNvSpPr txBox="1"/>
          <p:nvPr/>
        </p:nvSpPr>
        <p:spPr>
          <a:xfrm>
            <a:off x="533400" y="1825108"/>
            <a:ext cx="7924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missing, extra, or incorrectly ordered brackets.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Bracket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brackets: (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 brackets: [ 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Curly brackets: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Python checker uses a stack and displays a clear result on a web page.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Aim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simple, reliable bracket validator and connect it to a browser interface using Flask.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 + [b * (c + d)]} → Correctly nested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9031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2AD39-1EC4-B8E3-D3F0-35C71D546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080B0BA-BA66-58A1-7968-92BEDADA5011}"/>
              </a:ext>
            </a:extLst>
          </p:cNvPr>
          <p:cNvSpPr txBox="1"/>
          <p:nvPr/>
        </p:nvSpPr>
        <p:spPr>
          <a:xfrm>
            <a:off x="533400" y="609600"/>
            <a:ext cx="76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Phase 2 - </a:t>
            </a:r>
            <a:r>
              <a:rPr lang="en-IN" sz="2800" dirty="0"/>
              <a:t>Objectives</a:t>
            </a:r>
            <a:endParaRPr lang="en-US" sz="28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0BD83E7-EE97-D52F-C234-29DB96D83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309253"/>
            <a:ext cx="5144357" cy="2119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a stack-based bracket checker.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Last In, First Out (LIFO) principle.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extra, unmatched, and mismatched brackets.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 Python logic to a web interface using Flask.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clear validation results for user input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6238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44175-76FD-D060-001E-7A41B0EDC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E0D525-FC3B-7B0F-7584-C012658FD3CE}"/>
              </a:ext>
            </a:extLst>
          </p:cNvPr>
          <p:cNvSpPr txBox="1"/>
          <p:nvPr/>
        </p:nvSpPr>
        <p:spPr>
          <a:xfrm>
            <a:off x="533400" y="609600"/>
            <a:ext cx="76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Phase 3 - </a:t>
            </a:r>
            <a:r>
              <a:rPr lang="en-IN" sz="2800" dirty="0"/>
              <a:t>Algorithm</a:t>
            </a:r>
            <a:endParaRPr lang="en-US" sz="28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981F602-628B-286C-8C33-6485B1B5F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113770"/>
            <a:ext cx="6667210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and read the expression.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an empty stack and bracket-pair mapping.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Traverse the expression from left to right.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Push every opening bracket onto the stack.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a closing bracket, check whether the stack is empty.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it with the opening bracket at the top of the stack.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matched, pop it; if not, return False.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the end, an empty stack means Balanced; otherwise, Not Balanced.</a:t>
            </a:r>
          </a:p>
        </p:txBody>
      </p:sp>
    </p:spTree>
    <p:extLst>
      <p:ext uri="{BB962C8B-B14F-4D97-AF65-F5344CB8AC3E}">
        <p14:creationId xmlns:p14="http://schemas.microsoft.com/office/powerpoint/2010/main" val="3948627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61312-97E6-C05C-ED4B-D36CE4ABC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C2CF49-AE0E-948B-ABB9-BE055A54B989}"/>
              </a:ext>
            </a:extLst>
          </p:cNvPr>
          <p:cNvSpPr txBox="1"/>
          <p:nvPr/>
        </p:nvSpPr>
        <p:spPr>
          <a:xfrm>
            <a:off x="533400" y="609600"/>
            <a:ext cx="76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Phase 3 - </a:t>
            </a:r>
            <a:r>
              <a:rPr lang="en-IN" sz="2800" dirty="0"/>
              <a:t>Flowchart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C5BF4F-4BE4-5464-4F27-73E6845F2192}"/>
              </a:ext>
            </a:extLst>
          </p:cNvPr>
          <p:cNvSpPr txBox="1"/>
          <p:nvPr/>
        </p:nvSpPr>
        <p:spPr>
          <a:xfrm>
            <a:off x="685800" y="1295400"/>
            <a:ext cx="54864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START</a:t>
            </a:r>
          </a:p>
          <a:p>
            <a:r>
              <a:rPr lang="en-US" sz="1400" dirty="0"/>
              <a:t>↓</a:t>
            </a:r>
          </a:p>
          <a:p>
            <a:r>
              <a:rPr lang="en-US" sz="1400" dirty="0"/>
              <a:t>Input expression</a:t>
            </a:r>
          </a:p>
          <a:p>
            <a:r>
              <a:rPr lang="en-US" sz="1400" dirty="0"/>
              <a:t>↓</a:t>
            </a:r>
          </a:p>
          <a:p>
            <a:r>
              <a:rPr lang="en-US" sz="1400" dirty="0"/>
              <a:t>Initialize empty stack</a:t>
            </a:r>
          </a:p>
          <a:p>
            <a:r>
              <a:rPr lang="en-US" sz="1400" dirty="0"/>
              <a:t>↓</a:t>
            </a:r>
          </a:p>
          <a:p>
            <a:r>
              <a:rPr lang="en-US" sz="1400" dirty="0"/>
              <a:t>Read next character</a:t>
            </a:r>
          </a:p>
          <a:p>
            <a:r>
              <a:rPr lang="en-US" sz="1400" dirty="0"/>
              <a:t>↓</a:t>
            </a:r>
          </a:p>
          <a:p>
            <a:r>
              <a:rPr lang="en-US" sz="1400" dirty="0"/>
              <a:t>Is it an opening bracket?</a:t>
            </a:r>
          </a:p>
          <a:p>
            <a:r>
              <a:rPr lang="en-US" sz="1400" dirty="0"/>
              <a:t>YES → Push onto stack.</a:t>
            </a:r>
          </a:p>
          <a:p>
            <a:r>
              <a:rPr lang="en-US" sz="1400" dirty="0"/>
              <a:t>NO → Check whether it is a closing bracket.</a:t>
            </a:r>
          </a:p>
          <a:p>
            <a:r>
              <a:rPr lang="en-US" sz="1400" dirty="0"/>
              <a:t>↓</a:t>
            </a:r>
          </a:p>
          <a:p>
            <a:r>
              <a:rPr lang="en-US" sz="1400" dirty="0"/>
              <a:t>Is the stack empty or is the top bracket incorrect?</a:t>
            </a:r>
          </a:p>
          <a:p>
            <a:r>
              <a:rPr lang="en-US" sz="1400" dirty="0"/>
              <a:t>YES → Not Balanced.</a:t>
            </a:r>
          </a:p>
          <a:p>
            <a:r>
              <a:rPr lang="en-US" sz="1400" dirty="0"/>
              <a:t>NO / MATCH → Pop the stack.</a:t>
            </a:r>
          </a:p>
          <a:p>
            <a:r>
              <a:rPr lang="en-US" sz="1400" dirty="0"/>
              <a:t>↓</a:t>
            </a:r>
          </a:p>
          <a:p>
            <a:r>
              <a:rPr lang="en-US" sz="1400" dirty="0"/>
              <a:t>Are there more characters?</a:t>
            </a:r>
          </a:p>
          <a:p>
            <a:r>
              <a:rPr lang="en-US" sz="1400" dirty="0"/>
              <a:t>YES → Read the next character.</a:t>
            </a:r>
          </a:p>
          <a:p>
            <a:r>
              <a:rPr lang="en-US" sz="1400" dirty="0"/>
              <a:t>NO → Check whether the stack is empty.</a:t>
            </a:r>
          </a:p>
          <a:p>
            <a:r>
              <a:rPr lang="en-US" sz="1400" dirty="0"/>
              <a:t>↓</a:t>
            </a:r>
          </a:p>
          <a:p>
            <a:r>
              <a:rPr lang="en-US" sz="1400" dirty="0"/>
              <a:t>Stack empty → Balanced</a:t>
            </a:r>
          </a:p>
          <a:p>
            <a:r>
              <a:rPr lang="en-US" sz="1400" dirty="0"/>
              <a:t>Stack not empty → Not Balanced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532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A1A52-DE86-57CF-41CB-B4BC7A026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F180F58-E7FE-F9E6-E657-912FC1D217F6}"/>
              </a:ext>
            </a:extLst>
          </p:cNvPr>
          <p:cNvSpPr txBox="1"/>
          <p:nvPr/>
        </p:nvSpPr>
        <p:spPr>
          <a:xfrm>
            <a:off x="533400" y="609600"/>
            <a:ext cx="76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Phase 3 - </a:t>
            </a:r>
            <a:r>
              <a:rPr lang="en-IN" sz="2800" dirty="0"/>
              <a:t>Understanding of Python Logic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23B04E-6ED4-F92A-1D2B-7AB338C785E8}"/>
              </a:ext>
            </a:extLst>
          </p:cNvPr>
          <p:cNvSpPr txBox="1"/>
          <p:nvPr/>
        </p:nvSpPr>
        <p:spPr>
          <a:xfrm>
            <a:off x="533400" y="1424820"/>
            <a:ext cx="6324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 </a:t>
            </a:r>
            <a:r>
              <a:rPr lang="en-US" dirty="0" err="1"/>
              <a:t>is_balanced</a:t>
            </a:r>
            <a:r>
              <a:rPr lang="en-US" dirty="0"/>
              <a:t>(expression):</a:t>
            </a:r>
          </a:p>
          <a:p>
            <a:r>
              <a:rPr lang="en-US" dirty="0"/>
              <a:t>    stack = []</a:t>
            </a:r>
          </a:p>
          <a:p>
            <a:r>
              <a:rPr lang="en-US" dirty="0"/>
              <a:t>    pairs = {')': '(', ']': '[', '}': '{'}</a:t>
            </a:r>
          </a:p>
          <a:p>
            <a:endParaRPr lang="en-US" dirty="0"/>
          </a:p>
          <a:p>
            <a:r>
              <a:rPr lang="en-US" dirty="0"/>
              <a:t>    for char in expression:</a:t>
            </a:r>
          </a:p>
          <a:p>
            <a:r>
              <a:rPr lang="en-US" dirty="0"/>
              <a:t>        if char in '([{':</a:t>
            </a:r>
          </a:p>
          <a:p>
            <a:r>
              <a:rPr lang="en-US" dirty="0"/>
              <a:t>            </a:t>
            </a:r>
            <a:r>
              <a:rPr lang="en-US" dirty="0" err="1"/>
              <a:t>stack.append</a:t>
            </a:r>
            <a:r>
              <a:rPr lang="en-US" dirty="0"/>
              <a:t>(char)</a:t>
            </a:r>
          </a:p>
          <a:p>
            <a:r>
              <a:rPr lang="en-US" dirty="0"/>
              <a:t>        </a:t>
            </a:r>
            <a:r>
              <a:rPr lang="en-US" dirty="0" err="1"/>
              <a:t>elif</a:t>
            </a:r>
            <a:r>
              <a:rPr lang="en-US" dirty="0"/>
              <a:t> char in ')]}':</a:t>
            </a:r>
          </a:p>
          <a:p>
            <a:r>
              <a:rPr lang="en-US" dirty="0"/>
              <a:t>            if not stack:</a:t>
            </a:r>
          </a:p>
          <a:p>
            <a:r>
              <a:rPr lang="en-US" dirty="0"/>
              <a:t>                return False</a:t>
            </a:r>
          </a:p>
          <a:p>
            <a:r>
              <a:rPr lang="en-US" dirty="0"/>
              <a:t>            if stack[-1] != pairs[char]:</a:t>
            </a:r>
          </a:p>
          <a:p>
            <a:r>
              <a:rPr lang="en-US" dirty="0"/>
              <a:t>                return False</a:t>
            </a:r>
          </a:p>
          <a:p>
            <a:r>
              <a:rPr lang="en-US" dirty="0"/>
              <a:t>            </a:t>
            </a:r>
            <a:r>
              <a:rPr lang="en-US" dirty="0" err="1"/>
              <a:t>stack.pop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    return </a:t>
            </a:r>
            <a:r>
              <a:rPr lang="en-US" dirty="0" err="1"/>
              <a:t>len</a:t>
            </a:r>
            <a:r>
              <a:rPr lang="en-US" dirty="0"/>
              <a:t>(stack) == 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548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37D3E-0004-B29A-2CA9-DC84D55D4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E00FB4B-D17E-7C55-9284-3D16A4BC48AC}"/>
              </a:ext>
            </a:extLst>
          </p:cNvPr>
          <p:cNvSpPr txBox="1"/>
          <p:nvPr/>
        </p:nvSpPr>
        <p:spPr>
          <a:xfrm>
            <a:off x="533400" y="609600"/>
            <a:ext cx="76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Phase 3 - </a:t>
            </a:r>
            <a:r>
              <a:rPr lang="en-IN" sz="2800" dirty="0"/>
              <a:t>Understanding of Python Logic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00AAB4-6E02-CE25-AE47-AC50F3DFA6D3}"/>
              </a:ext>
            </a:extLst>
          </p:cNvPr>
          <p:cNvSpPr txBox="1"/>
          <p:nvPr/>
        </p:nvSpPr>
        <p:spPr>
          <a:xfrm>
            <a:off x="533400" y="1424820"/>
            <a:ext cx="6324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 </a:t>
            </a:r>
            <a:r>
              <a:rPr lang="en-US" dirty="0" err="1"/>
              <a:t>is_balanced</a:t>
            </a:r>
            <a:r>
              <a:rPr lang="en-US" dirty="0"/>
              <a:t>(expression):</a:t>
            </a:r>
          </a:p>
          <a:p>
            <a:r>
              <a:rPr lang="en-US" dirty="0"/>
              <a:t>    stack = []</a:t>
            </a:r>
          </a:p>
          <a:p>
            <a:r>
              <a:rPr lang="en-US" dirty="0"/>
              <a:t>    pairs = {')': '(', ']': '[', '}': '{'}</a:t>
            </a:r>
          </a:p>
          <a:p>
            <a:endParaRPr lang="en-US" dirty="0"/>
          </a:p>
          <a:p>
            <a:r>
              <a:rPr lang="en-US" dirty="0"/>
              <a:t>    for char in expression:</a:t>
            </a:r>
          </a:p>
          <a:p>
            <a:r>
              <a:rPr lang="en-US" dirty="0"/>
              <a:t>        if char in '([{':</a:t>
            </a:r>
          </a:p>
          <a:p>
            <a:r>
              <a:rPr lang="en-US" dirty="0"/>
              <a:t>            </a:t>
            </a:r>
            <a:r>
              <a:rPr lang="en-US" dirty="0" err="1"/>
              <a:t>stack.append</a:t>
            </a:r>
            <a:r>
              <a:rPr lang="en-US" dirty="0"/>
              <a:t>(char)</a:t>
            </a:r>
          </a:p>
          <a:p>
            <a:r>
              <a:rPr lang="en-US" dirty="0"/>
              <a:t>        </a:t>
            </a:r>
            <a:r>
              <a:rPr lang="en-US" dirty="0" err="1"/>
              <a:t>elif</a:t>
            </a:r>
            <a:r>
              <a:rPr lang="en-US" dirty="0"/>
              <a:t> char in ')]}':</a:t>
            </a:r>
          </a:p>
          <a:p>
            <a:r>
              <a:rPr lang="en-US" dirty="0"/>
              <a:t>            if not stack:</a:t>
            </a:r>
          </a:p>
          <a:p>
            <a:r>
              <a:rPr lang="en-US" dirty="0"/>
              <a:t>                return False</a:t>
            </a:r>
          </a:p>
          <a:p>
            <a:r>
              <a:rPr lang="en-US" dirty="0"/>
              <a:t>            if stack[-1] != pairs[char]:</a:t>
            </a:r>
          </a:p>
          <a:p>
            <a:r>
              <a:rPr lang="en-US" dirty="0"/>
              <a:t>                return False</a:t>
            </a:r>
          </a:p>
          <a:p>
            <a:r>
              <a:rPr lang="en-US" dirty="0"/>
              <a:t>            </a:t>
            </a:r>
            <a:r>
              <a:rPr lang="en-US" dirty="0" err="1"/>
              <a:t>stack.pop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    return </a:t>
            </a:r>
            <a:r>
              <a:rPr lang="en-US" dirty="0" err="1"/>
              <a:t>len</a:t>
            </a:r>
            <a:r>
              <a:rPr lang="en-US" dirty="0"/>
              <a:t>(stack) == 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7974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A6167-4203-F09A-9453-D37DE9492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E4C266-5A5B-9466-12B1-1BE333854633}"/>
              </a:ext>
            </a:extLst>
          </p:cNvPr>
          <p:cNvSpPr txBox="1"/>
          <p:nvPr/>
        </p:nvSpPr>
        <p:spPr>
          <a:xfrm>
            <a:off x="381000" y="609600"/>
            <a:ext cx="76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Phase 3 - </a:t>
            </a:r>
            <a:r>
              <a:rPr lang="en-IN" sz="2800" dirty="0"/>
              <a:t>Tools, GitHub &amp; Deployment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037831-5D43-0D25-98FA-A1523D92016C}"/>
              </a:ext>
            </a:extLst>
          </p:cNvPr>
          <p:cNvSpPr txBox="1"/>
          <p:nvPr/>
        </p:nvSpPr>
        <p:spPr>
          <a:xfrm>
            <a:off x="609600" y="1295400"/>
            <a:ext cx="6477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Python 3</a:t>
            </a:r>
          </a:p>
          <a:p>
            <a:r>
              <a:rPr lang="en-US" dirty="0"/>
              <a:t>Implements expression traversal, stack operations, and matching logic.</a:t>
            </a:r>
          </a:p>
          <a:p>
            <a:r>
              <a:rPr lang="en-US" dirty="0"/>
              <a:t>2. Flask + HTML</a:t>
            </a:r>
          </a:p>
          <a:p>
            <a:r>
              <a:rPr lang="en-US" dirty="0"/>
              <a:t>Connects the checker function to a browser-based form.</a:t>
            </a:r>
          </a:p>
          <a:p>
            <a:r>
              <a:rPr lang="en-US" dirty="0"/>
              <a:t>3. Git + GitHub</a:t>
            </a:r>
          </a:p>
          <a:p>
            <a:r>
              <a:rPr lang="en-US" dirty="0"/>
              <a:t>Tracks code changes and makes project files shareable.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853242-3129-2BF1-3695-3F3C188B05B7}"/>
              </a:ext>
            </a:extLst>
          </p:cNvPr>
          <p:cNvSpPr txBox="1"/>
          <p:nvPr/>
        </p:nvSpPr>
        <p:spPr>
          <a:xfrm>
            <a:off x="609600" y="3444418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Live Deployment (as listed in the report)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146AB3-B313-0C1B-6D74-F7A62FA15A9B}"/>
              </a:ext>
            </a:extLst>
          </p:cNvPr>
          <p:cNvSpPr txBox="1"/>
          <p:nvPr/>
        </p:nvSpPr>
        <p:spPr>
          <a:xfrm>
            <a:off x="395287" y="3828037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rgbClr val="0070C0"/>
                </a:solidFill>
              </a:rPr>
              <a:t>https://pythonprogramming-templates.vercel.app</a:t>
            </a:r>
            <a:r>
              <a:rPr lang="en-IN" dirty="0"/>
              <a:t>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77EAE-B692-DA59-26B5-9166F8113EFF}"/>
              </a:ext>
            </a:extLst>
          </p:cNvPr>
          <p:cNvSpPr txBox="1"/>
          <p:nvPr/>
        </p:nvSpPr>
        <p:spPr>
          <a:xfrm>
            <a:off x="762000" y="4343400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Github</a:t>
            </a:r>
            <a:r>
              <a:rPr lang="en-US" dirty="0"/>
              <a:t> link </a:t>
            </a:r>
          </a:p>
          <a:p>
            <a:r>
              <a:rPr lang="en-IN" i="1" dirty="0">
                <a:solidFill>
                  <a:srgbClr val="0070C0"/>
                </a:solidFill>
              </a:rPr>
              <a:t>https://github.com/swanandikml25-pixel/my</a:t>
            </a:r>
          </a:p>
        </p:txBody>
      </p:sp>
    </p:spTree>
    <p:extLst>
      <p:ext uri="{BB962C8B-B14F-4D97-AF65-F5344CB8AC3E}">
        <p14:creationId xmlns:p14="http://schemas.microsoft.com/office/powerpoint/2010/main" val="3299355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DC1D6-0A67-F2CA-FB7D-E1EC3148D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D96568E-9417-92D1-868A-6ABEE0AC35F2}"/>
              </a:ext>
            </a:extLst>
          </p:cNvPr>
          <p:cNvSpPr txBox="1"/>
          <p:nvPr/>
        </p:nvSpPr>
        <p:spPr>
          <a:xfrm>
            <a:off x="533400" y="609600"/>
            <a:ext cx="76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Phase 3 - </a:t>
            </a:r>
            <a:r>
              <a:rPr lang="en-IN" sz="2800" dirty="0"/>
              <a:t>Conclusion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05E9C-F33F-2B4C-FBA1-FB012D76DDED}"/>
              </a:ext>
            </a:extLst>
          </p:cNvPr>
          <p:cNvSpPr txBox="1"/>
          <p:nvPr/>
        </p:nvSpPr>
        <p:spPr>
          <a:xfrm>
            <a:off x="609600" y="1295400"/>
            <a:ext cx="7924800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Practical Use of the Stack Data Structure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checks whether round, square, and curly brackets are correctly matched and nested.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Python list implements the stack, while Flask and HTML provide a simple browser interface.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Learning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 • Stack Operations • Python Logic • Flask Integration • Testing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222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0000FF"/>
                </a:solidFill>
              </a:rPr>
              <a:t>Thank</a:t>
            </a:r>
            <a:r>
              <a:rPr sz="4800" spc="-5" dirty="0">
                <a:solidFill>
                  <a:srgbClr val="0000FF"/>
                </a:solidFill>
              </a:rPr>
              <a:t> </a:t>
            </a:r>
            <a:r>
              <a:rPr sz="4800" spc="-120" dirty="0">
                <a:solidFill>
                  <a:srgbClr val="0000FF"/>
                </a:solidFill>
              </a:rPr>
              <a:t>You</a:t>
            </a:r>
            <a:endParaRPr sz="4800"/>
          </a:p>
        </p:txBody>
      </p:sp>
      <p:grpSp>
        <p:nvGrpSpPr>
          <p:cNvPr id="3" name="object 3"/>
          <p:cNvGrpSpPr/>
          <p:nvPr/>
        </p:nvGrpSpPr>
        <p:grpSpPr>
          <a:xfrm>
            <a:off x="103631" y="6380990"/>
            <a:ext cx="8932545" cy="391795"/>
            <a:chOff x="103631" y="6380990"/>
            <a:chExt cx="8932545" cy="3917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31" y="6380990"/>
              <a:ext cx="8932164" cy="39162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6303" y="6400799"/>
              <a:ext cx="8851900" cy="311150"/>
            </a:xfrm>
            <a:custGeom>
              <a:avLst/>
              <a:gdLst/>
              <a:ahLst/>
              <a:cxnLst/>
              <a:rect l="l" t="t" r="r" b="b"/>
              <a:pathLst>
                <a:path w="8851900" h="311150">
                  <a:moveTo>
                    <a:pt x="8851392" y="0"/>
                  </a:moveTo>
                  <a:lnTo>
                    <a:pt x="0" y="0"/>
                  </a:lnTo>
                  <a:lnTo>
                    <a:pt x="0" y="310896"/>
                  </a:lnTo>
                  <a:lnTo>
                    <a:pt x="8851392" y="310896"/>
                  </a:lnTo>
                  <a:lnTo>
                    <a:pt x="8851392" y="0"/>
                  </a:lnTo>
                  <a:close/>
                </a:path>
              </a:pathLst>
            </a:custGeom>
            <a:solidFill>
              <a:srgbClr val="8FB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974594" y="3396818"/>
            <a:ext cx="37966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7375E"/>
                </a:solidFill>
                <a:latin typeface="Calibri"/>
                <a:cs typeface="Calibri"/>
              </a:rPr>
              <a:t>Balanced</a:t>
            </a:r>
            <a:r>
              <a:rPr sz="2400" b="1" spc="-60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7375E"/>
                </a:solidFill>
                <a:latin typeface="Calibri"/>
                <a:cs typeface="Calibri"/>
              </a:rPr>
              <a:t>Parenthesis</a:t>
            </a:r>
            <a:r>
              <a:rPr sz="2400" b="1" spc="-4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7375E"/>
                </a:solidFill>
                <a:latin typeface="Calibri"/>
                <a:cs typeface="Calibri"/>
              </a:rPr>
              <a:t>Checker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S.</a:t>
            </a:r>
            <a:r>
              <a:rPr spc="-25" dirty="0"/>
              <a:t> </a:t>
            </a:r>
            <a:r>
              <a:rPr dirty="0"/>
              <a:t>B.</a:t>
            </a:r>
            <a:r>
              <a:rPr spc="-10" dirty="0"/>
              <a:t> </a:t>
            </a:r>
            <a:r>
              <a:rPr dirty="0"/>
              <a:t>Jain</a:t>
            </a:r>
            <a:r>
              <a:rPr spc="-25" dirty="0"/>
              <a:t> </a:t>
            </a:r>
            <a:r>
              <a:rPr dirty="0"/>
              <a:t>Institute</a:t>
            </a:r>
            <a:r>
              <a:rPr spc="-1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Technology</a:t>
            </a:r>
            <a:r>
              <a:rPr spc="-20" dirty="0"/>
              <a:t> </a:t>
            </a:r>
            <a:r>
              <a:rPr dirty="0"/>
              <a:t>Management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Research,</a:t>
            </a:r>
            <a:r>
              <a:rPr spc="-5" dirty="0"/>
              <a:t> </a:t>
            </a:r>
            <a:r>
              <a:rPr spc="-10" dirty="0"/>
              <a:t>Nagpur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1655</Words>
  <Application>Microsoft Office PowerPoint</Application>
  <PresentationFormat>On-screen Show (4:3)</PresentationFormat>
  <Paragraphs>285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MS Gothic</vt:lpstr>
      <vt:lpstr>Arial</vt:lpstr>
      <vt:lpstr>Calibri</vt:lpstr>
      <vt:lpstr>Times New Roman</vt:lpstr>
      <vt:lpstr>Office Theme</vt:lpstr>
      <vt:lpstr>Experiential Learning</vt:lpstr>
      <vt:lpstr>Phase 1 - Contents</vt:lpstr>
      <vt:lpstr>Phase 1 - Problem Statement</vt:lpstr>
      <vt:lpstr>Phase 1 - Objectives</vt:lpstr>
      <vt:lpstr>Phase 1 - Algorithm</vt:lpstr>
      <vt:lpstr>Phase 1 - Flowchart / Pseudocode</vt:lpstr>
      <vt:lpstr>Phase 1 - Understanding of Python Logic</vt:lpstr>
      <vt:lpstr>Phase 1 - Graph Representation and Working</vt:lpstr>
      <vt:lpstr>Phase 1 -  GitHub Account, Repository &amp; Collaboration</vt:lpstr>
      <vt:lpstr>Phase 1 -  Individual Contribution</vt:lpstr>
      <vt:lpstr>Phase 1 - Result / Expected 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PURVESH .</dc:creator>
  <cp:lastModifiedBy>ashok kshirsagar</cp:lastModifiedBy>
  <cp:revision>5</cp:revision>
  <dcterms:created xsi:type="dcterms:W3CDTF">2026-09-22T09:21:53Z</dcterms:created>
  <dcterms:modified xsi:type="dcterms:W3CDTF">2026-10-28T15:00:41Z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2026-08-17T00:00:00Z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2026-09-22T00:00:00Z</vt:filetime>
  </property>
  <property fmtid="{D5CDD505-2E9C-101B-9397-08002B2CF9AE}" pid="6" name="Producer">
    <vt:lpwstr>Microsoft® PowerPoint® 2019</vt:lpwstr>
  </property>
</Properties>
</file>